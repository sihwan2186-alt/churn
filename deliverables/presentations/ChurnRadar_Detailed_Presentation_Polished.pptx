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이번 발표에서는 B2B 통신사 고객 이탈을 예측하는 ChurnRadar 프로젝트를 설명하겠습니다.</a:t>
            </a:r>
          </a:p>
          <a:p>
            <a:r>
              <a:t>핵심은 단순히 가장 높은 점수를 낸 모델을 찾는 것이 아니라, 데이터 제약과 운영 목적에 맞춰 어떤 모델을 선택해야 하는지 정리하는 것입니다.</a:t>
            </a:r>
          </a:p>
          <a:p>
            <a:r>
              <a:t>특히 시계열 데이터를 찾을 수 없었기 때문에, 정적 CRM 스냅샷에서 만들 수 있는 feature와 그 한계를 함께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발표 흐름은 예상 질문에 답하는 구조로 구성했습니다.</a:t>
            </a:r>
          </a:p>
          <a:p>
            <a:r>
              <a:t>먼저 데이터와 전처리 근거를 설명하고, 그다음 논문 재현 결과와 추가 모델 실험을 비교합니다.</a:t>
            </a:r>
          </a:p>
          <a:p>
            <a:r>
              <a:t>시간이 제한되면 18장까지를 본문으로 보고, 이후 슬라이드는 질의응답에서 근거 자료로 사용하겠습니다.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과정에서 월별 사용량, 결제 이력, 계약 만료 같은 시계열 데이터를 찾을 수 없었습니다.</a:t>
            </a:r>
          </a:p>
          <a:p>
            <a:r>
              <a:t>그래서 사용 가능한 B2B 통신사 고객 단위의 정적 CRM 스냅샷을 기준으로 이탈 예측을 진행했습니다.</a:t>
            </a:r>
          </a:p>
          <a:p>
            <a:r>
              <a:t>전체 8,453개 행 중 이탈 고객은 약 6.5%로 매우 적기 때문에 정확도만 보지 않고 재현율, 정밀도, F1을 함께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어떤 컬럼을 사용했고 어떤 컬럼을 제외했는지 보여줍니다.</a:t>
            </a:r>
          </a:p>
          <a:p>
            <a:r>
              <a:t>PID 같은 식별자는 일반화에 도움이 되지 않고 정보 누수 위험이 있어 제외했습니다.</a:t>
            </a:r>
          </a:p>
          <a:p>
            <a:r>
              <a:t>반면 매출, 가입자 수, 세그먼트처럼 고객 상태를 설명하는 변수는 모델 입력으로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원본 CSV를 직접 수정하지 않고, 모델용 feature만 별도 산출물로 만들었습니다.</a:t>
            </a:r>
          </a:p>
          <a:p>
            <a:r>
              <a:t>KA_name은 실명 기반 운영 민감 변수라 기본 모델에서는 제외했고, 연구용으로는 추상화한 형태만 따로 점검했습니다.</a:t>
            </a:r>
          </a:p>
          <a:p>
            <a:r>
              <a:t>이 기준은 성능을 조금 높이는 것보다 정보 누수 방지와 실제 운영 가능성을 우선한 결정입니다.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결측치는 단순히 삭제하지 않았습니다.</a:t>
            </a:r>
          </a:p>
          <a:p>
            <a:r>
              <a:t>특히 이탈 고객 수가 적기 때문에 행 삭제는 소수 클래스를 더 줄여 모델 학습을 어렵게 만듭니다.</a:t>
            </a:r>
          </a:p>
          <a:p>
            <a:r>
              <a:t>따라서 대체값과 결측 표시 변수를 함께 사용해, 결측 자체가 가진 운영 신호도 보존했습니다.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전처리 과정은 원본 로드부터 보고서 산출까지 재현 가능한 흐름으로 구성했습니다.</a:t>
            </a:r>
          </a:p>
          <a:p>
            <a:r>
              <a:t>시계열 데이터가 없었기 때문에 월별 추세 대신 가입자 수, 매출, 세그먼트, 결측 표시 같은 정적 feature를 안정적으로 만들었습니다.</a:t>
            </a:r>
          </a:p>
          <a:p>
            <a:r>
              <a:t>중요한 점은 imputation, encoding, scaling, resampling이 모두 학습 데이터 기준으로만 fit되었다는 것입니다.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프로젝트에서 가장 조심한 부분은 정보 누수입니다.</a:t>
            </a:r>
          </a:p>
          <a:p>
            <a:r>
              <a:t>중앙값 대체, frequency encoding, ZIP top-N grouping처럼 데이터 분포를 학습하는 단계는 모두 train 기준으로만 계산했습니다.</a:t>
            </a:r>
          </a:p>
          <a:p>
            <a:r>
              <a:t>이렇게 해야 테스트 성능이 실제 운영 환경에서 기대할 수 있는 성능에 더 가깝게 해석됩니다.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원시 컬럼만 그대로 쓰기보다 이탈 신호를 더 잘 표현하도록 파생 변수를 만들었습니다.</a:t>
            </a:r>
          </a:p>
          <a:p>
            <a:r>
              <a:t>가입자 수는 활동성 비율로, 매출은 log와 sqrt 변환으로, 매출과 활동성은 상호작용 변수로 확장했습니다.</a:t>
            </a:r>
          </a:p>
          <a:p>
            <a:r>
              <a:t>결론적으로 단일 컬럼보다 파생 feature와 교차 feature가 모델 성능을 설명하는 핵심 근거가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논문의 기준선을 재현해 비교 가능한 출발점을 만들었습니다.</a:t>
            </a:r>
          </a:p>
          <a:p>
            <a:r>
              <a:t>논문 최고 성능인 EasyEnsemble F1 0.129와 본 프로젝트 재현값 0.128은 거의 동일합니다.</a:t>
            </a:r>
          </a:p>
          <a:p>
            <a:r>
              <a:t>반면 LR 성능은 논문에 없던 추가 실험이므로, 논문보다 무조건 우수하다는 식으로 말하지 않고 별도 기여로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논문 방식과 본 프로젝트의 차이를 정리한 것입니다.</a:t>
            </a:r>
          </a:p>
          <a:p>
            <a:r>
              <a:t>같은 데이터와 유사한 전처리 원칙을 유지하되, 본 프로젝트는 ZIP ablation, 비용 기준 threshold, 운영 관점 비교를 추가했습니다.</a:t>
            </a:r>
          </a:p>
          <a:p>
            <a:r>
              <a:t>따라서 재현 비교와 추가 분석을 분리해서 해석하는 것이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불균형 데이터에서는 하나의 모델군만 보기보다 여러 관점의 모델을 비교해야 합니다.</a:t>
            </a:r>
          </a:p>
          <a:p>
            <a:r>
              <a:t>Logistic Regression은 설명 가능한 기준 모델이고, EasyEnsemble과 BalancedBagging은 소수 클래스 탐지에 유리한 모델입니다.</a:t>
            </a:r>
          </a:p>
          <a:p>
            <a:r>
              <a:t>CatBoost와 XGBoost는 범주형 및 비선형 관계를 확인하기 위해 함께 실험했습니다.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 자체의 점수뿐 아니라 운영 목적에 맞는 임계값 선택도 중요합니다.</a:t>
            </a:r>
          </a:p>
          <a:p>
            <a:r>
              <a:t>예를 들어 재현율을 높이면 더 많은 이탈 고객을 잡지만 오탐도 함께 증가합니다.</a:t>
            </a:r>
          </a:p>
          <a:p>
            <a:r>
              <a:t>그래서 validation 기준으로 threshold를 선택하고, 테스트셋에서는 사후적으로 값을 고르지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성능 비교의 중심입니다.</a:t>
            </a:r>
          </a:p>
          <a:p>
            <a:r>
              <a:t>EasyEnsemble 재현값은 논문과 거의 일치해 재현성은 확보했습니다.</a:t>
            </a:r>
          </a:p>
          <a:p>
            <a:r>
              <a:t>LR은 hold-out F1이 가장 높지만, BalancedBagging과 CatBoost는 운영 목적에 따라 더 높은 재현율을 제공하는 대안입니다.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Hold-out 결과를 보면 모델별 장단점이 분명합니다.</a:t>
            </a:r>
          </a:p>
          <a:p>
            <a:r>
              <a:t>LR은 F1과 정밀도가 상대적으로 높고, XGBoost와 CatBoost는 재현율이 높지만 오탐이 많습니다.</a:t>
            </a:r>
          </a:p>
          <a:p>
            <a:r>
              <a:t>따라서 최종 선택은 단일 점수보다 팀의 접촉 가능 규모와 오탐 비용을 함께 고려해야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단일 Hold-out만 보면 LR이 좋아 보이지만, 5-Fold CV에서는 BalancedBagging과 EasyEnsemble이 더 안정적입니다.</a:t>
            </a:r>
          </a:p>
          <a:p>
            <a:r>
              <a:t>이는 데이터 분할에 따라 모델 순위가 달라질 수 있다는 뜻입니다.</a:t>
            </a:r>
          </a:p>
          <a:p>
            <a:r>
              <a:t>그래서 이 프로젝트의 결론은 압도적 우위가 아니라 목적별 모델 선택으로 정리하는 것이 타당합니다.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Billing_ZIP은 모델에 따라 도움이 되기도 하고 방해가 되기도 했습니다.</a:t>
            </a:r>
          </a:p>
          <a:p>
            <a:r>
              <a:t>BalancedBagging에서는 ZIP 포함이 F1과 재현율을 높였지만, Logistic Regression에서는 ZIP 제외가 더 좋았습니다.</a:t>
            </a:r>
          </a:p>
          <a:p>
            <a:r>
              <a:t>고유값이 많은 범주형 변수는 특히 선형 모델에서 잡음처럼 작동할 수 있음을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group ablation은 어떤 변수군이 성능에 기여했는지 확인하기 위한 실험입니다.</a:t>
            </a:r>
          </a:p>
          <a:p>
            <a:r>
              <a:t>LR에서는 categorical group 제거 시 F1이 크게 떨어졌고, BalancedBagging에서는 interaction group 제거의 영향이 컸습니다.</a:t>
            </a:r>
          </a:p>
          <a:p>
            <a:r>
              <a:t>즉 feature 중요도는 모델 구조와 함께 해석해야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여기서부터는 컬럼별 분석입니다.</a:t>
            </a:r>
          </a:p>
          <a:p>
            <a:r>
              <a:t>각 컬럼만 따로 보았을 때 어느 정도 이탈 신호를 갖는지 확인해, 최종 feature 설계가 임의적이지 않다는 근거를 만들었습니다.</a:t>
            </a:r>
          </a:p>
          <a:p>
            <a:r>
              <a:t>이 결과는 최종 모델 성능을 대체하는 것이 아니라 feature engineering 방향을 설명하는 보조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컬럼별 CSV와 요약 파일은 발표에서 변수별 의미를 설명하기 위한 보조 자료입니다.</a:t>
            </a:r>
          </a:p>
          <a:p>
            <a:r>
              <a:t>예를 들어 단일 변수 설명, 범주값별 이탈률, 단일 컬럼 모델 성능을 각각 따로 확인할 수 있게 했습니다.</a:t>
            </a:r>
          </a:p>
          <a:p>
            <a:r>
              <a:t>이렇게 분리해 두면 질의응답에서 특정 컬럼의 역할을 더 명확하게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단일 컬럼만 사용하면 최고 F1이 약 0.15 수준에서 멈춥니다.</a:t>
            </a:r>
          </a:p>
          <a:p>
            <a:r>
              <a:t>가입자 수와 매출 관련 컬럼이 상대적으로 강하지만, 단독으로는 충분한 예측력을 제공하지 못합니다.</a:t>
            </a:r>
          </a:p>
          <a:p>
            <a:r>
              <a:t>이 결과는 여러 feature를 결합하고 변환해야 하는 이유를 뒷받침합니다.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단일 컬럼 실험을 최종 feature 설계와 연결한 것입니다.</a:t>
            </a:r>
          </a:p>
          <a:p>
            <a:r>
              <a:t>가입자 수와 매출은 중요한 신호지만, 규모 자체만으로는 정밀도가 낮습니다.</a:t>
            </a:r>
          </a:p>
          <a:p>
            <a:r>
              <a:t>그래서 비율, 변환, 상호작용 feature로 확장해 모델이 더 안정적으로 신호를 읽도록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실험은 논문형 core feature와 KA 추상화 feature를 실제 성능으로 점검한 것입니다.</a:t>
            </a:r>
          </a:p>
          <a:p>
            <a:r>
              <a:t>최고 F1은 0.1561로 의미 있는 개선이 있었지만 기존 LR F1 0.1681을 넘지는 못했습니다.</a:t>
            </a:r>
          </a:p>
          <a:p>
            <a:r>
              <a:t>따라서 KA 추상화 feature는 최종 결론을 바꾸는 근거라기보다 보조 분석으로 활용하는 것이 적절합니다.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추가 튜닝에서는 BalancedBagging의 성능이 일부 개선되었습니다.</a:t>
            </a:r>
          </a:p>
          <a:p>
            <a:r>
              <a:t>다만 최고 F1이 0.1605로 기존 LR 0.1681을 넘지는 않았습니다.</a:t>
            </a:r>
          </a:p>
          <a:p>
            <a:r>
              <a:t>그래서 최종 모델 결론은 유지하되, BalancedBagging은 재현율 중심 운영 후보로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평균만 보면 고객군별로 어떤 문제가 생기는지 놓칠 수 있습니다.</a:t>
            </a:r>
          </a:p>
          <a:p>
            <a:r>
              <a:t>mid/high value에서는 재현율은 높지만 정밀도가 낮아 오탐 관리가 중요하고, low value에서는 놓치는 이탈자가 상대적으로 많습니다.</a:t>
            </a:r>
          </a:p>
          <a:p>
            <a:r>
              <a:t>이 결과는 segment별 운영 전략이 필요하다는 점을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고가치 고객만 따로 학습한 모델은 정밀도와 PR-AUC가 개선됐지만 재현율이 크게 낮아졌습니다.</a:t>
            </a:r>
          </a:p>
          <a:p>
            <a:r>
              <a:t>즉 고가치 전용 모델 하나로 전체 모델을 대체하기에는 위험합니다.</a:t>
            </a:r>
          </a:p>
          <a:p>
            <a:r>
              <a:t>더 적합한 방식은 전체 모델로 후보를 넓게 잡고, 고가치 고객은 2단계 검토로 정밀하게 보는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구조를 넣으면 모델 선택 기준이 달라집니다.</a:t>
            </a:r>
          </a:p>
          <a:p>
            <a:r>
              <a:t>이탈 방지 가치가 큰 시나리오에서는 재현율을 극대화하는 쪽이 유리하지만, 캠페인 비용이 커지면 기대가치가 음수가 될 수 있습니다.</a:t>
            </a:r>
          </a:p>
          <a:p>
            <a:r>
              <a:t>따라서 threshold는 확률 자체가 아니라 운영 조건별 의사결정 결과로 해석해야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모델 성능을 비즈니스 의사결정으로 연결한 요약입니다.</a:t>
            </a:r>
          </a:p>
          <a:p>
            <a:r>
              <a:t>같은 모델이라도 접촉 가능 고객 수, 캠페인 비용, 이탈 방지 가치에 따라 실제 효과가 달라집니다.</a:t>
            </a:r>
          </a:p>
          <a:p>
            <a:r>
              <a:t>따라서 운영팀이 쓸 수 있는 기준은 점수 하나가 아니라 비용과 예산을 반영한 선택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캠페인은 threshold보다 상위 몇 퍼센트를 접촉할지로 운영하는 경우가 많습니다.</a:t>
            </a:r>
          </a:p>
          <a:p>
            <a:r>
              <a:t>예산이 작으면 LR이나 EasyEnsemble이 효율적이고, 예산이 커질수록 BalancedBagging 계열의 재현율 장점이 커집니다.</a:t>
            </a:r>
          </a:p>
          <a:p>
            <a:r>
              <a:t>이 슬라이드는 모델 선택을 캠페인 예산과 연결해 설명하는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raw score는 실제 이탈 확률이 아닙니다.</a:t>
            </a:r>
          </a:p>
          <a:p>
            <a:r>
              <a:t>예를 들어 score 0.4라고 해서 이탈 확률이 40%라는 뜻은 아니므로, 확률처럼 사용하려면 보정이 필요합니다.</a:t>
            </a:r>
          </a:p>
          <a:p>
            <a:r>
              <a:t>Platt 보정 후 Brier와 ECE가 낮아진 것은 운영에서 점수를 더 안정적으로 해석할 수 있음을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해석 방법마다 상위 변수 순위는 다를 수 있습니다.</a:t>
            </a:r>
          </a:p>
          <a:p>
            <a:r>
              <a:t>하지만 논문 SHAP, permutation importance, LR coefficient 모두 활동성이나 매출 관련 신호가 중요하다는 방향으로 수렴합니다.</a:t>
            </a:r>
          </a:p>
          <a:p>
            <a:r>
              <a:t>따라서 모델 결과는 단순 블랙박스가 아니라 고객 활동성과 수익성 관점에서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 모델이 동시에 이탈 위험을 경고한 고객군은 실제 이탈률도 높았습니다.</a:t>
            </a:r>
          </a:p>
          <a:p>
            <a:r>
              <a:t>특히 8개 모델 모두가 경고한 그룹은 전체 평균보다 약 1.9배 높은 이탈률을 보였습니다.</a:t>
            </a:r>
          </a:p>
          <a:p>
            <a:r>
              <a:t>다만 경고가 없는 그룹에서도 이탈자는 존재하므로, 합의도는 절대 규칙이 아니라 우선순위 등급으로 사용해야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성능 차이를 단일 점수만으로 판단하지 않기 위해 신뢰구간과 McNemar 검정을 확인했습니다.</a:t>
            </a:r>
          </a:p>
          <a:p>
            <a:r>
              <a:t>LR은 F1 점추정치가 높지만 신뢰구간이 넓고, recall 중심 모델들은 이탈 탐지 측면의 일관성이 있습니다.</a:t>
            </a:r>
          </a:p>
          <a:p>
            <a:r>
              <a:t>즉 모델 간 차이는 점수 차이뿐 아니라 어떤 고객을 맞히고 틀리는지의 차이로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 이후에도 같은 결과를 재현할 수 있도록 자동화 구조를 만들었습니다.</a:t>
            </a:r>
          </a:p>
          <a:p>
            <a:r>
              <a:t>pytest로 데이터 스키마를 확인하고, preprocess와 phase 3-8 실험을 재실행하며, n8n workflow로 전체 흐름을 묶었습니다.</a:t>
            </a:r>
          </a:p>
          <a:p>
            <a:r>
              <a:t>운영 단계에서는 drift check와 재학습 검토 기준을 추가해 프로젝트를 지속적으로 관리할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큰 한계는 시계열 데이터를 찾을 수 없어 정적 CRM 스냅샷 기준으로 진행했다는 점입니다.</a:t>
            </a:r>
          </a:p>
          <a:p>
            <a:r>
              <a:t>그래서 이탈 직전의 사용량 변화, 결제 실패, VOC, 계약 만료 정보가 없고, 모델 성능에는 구조적인 상한이 있습니다.</a:t>
            </a:r>
          </a:p>
          <a:p>
            <a:r>
              <a:t>향후에는 시계열 feature와 외부 검증 데이터를 확보하는 것이 모델을 추가하는 것보다 더 중요한 개선 방향입니다.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최종적으로 논문 EasyEnsemble baseline은 F1 0.128로 재현했습니다.</a:t>
            </a:r>
          </a:p>
          <a:p>
            <a:r>
              <a:t>Hold-out에서는 LR이 가장 높았지만, CV 안정성과 운영 재현율 관점에서는 BalancedBagging과 EasyEnsemble도 중요한 대안입니다.</a:t>
            </a:r>
          </a:p>
          <a:p>
            <a:r>
              <a:t>시계열 데이터를 찾을 수 없었던 조건에서는 점수 하나보다 데이터 한계를 인정하고 운영 목적별 모델 선택 기준을 제시하는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발표용 최종본: 데이터, 전처리, 논문 재현, 실험, 운영 해석 전체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B2B 통신사 고객 이탈 예측 데이터의 컬럼별 역할과 제외/수정 사유 설명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논문 EasyEnsemble baseline 재현 후 모델/feature/threshold 실험으로 확장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최종 결론: 단일 최고 모델이 아니라 운영 목적별 모델 선택 프레임워크</a:t>
            </a:r>
          </a:p>
        </p:txBody>
      </p:sp>
      <p:pic>
        <p:nvPicPr>
          <p:cNvPr id="6" name="Picture 5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50292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상세 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질문을 예상하고 답하는 순서로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80560"/>
                <a:gridCol w="44805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슬라이드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질문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이해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3-6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무슨 데이터이고 무엇을 빼거나 수정했나?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전처리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7-9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정보 누수 없이 어떤 feature를 만들었나?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10-14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논문과 비교 가능한 값은 무엇인가?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모델/튜닝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15-23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어떤 실험과 하이퍼파라미터 튜닝을 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분석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19-21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각 컬럼만 넣으면 어떤 정보가 드러나는가?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운영 해석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24-31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비용, segment, top-k, calibration에서 무엇을 배웠나?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검증/결론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32-35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통계적으로 얼마나 믿을 수 있고 한계는 무엇인가?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요약본보다 근거와 검증 과정을 더 자세히 담았다.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발표 시간이 짧으면 1-18장을 중심으로 진행하고, 19장 이후는 질의응답 자료로 활용한다.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사용 데이터와 예측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시계열 데이터를 찾을 수 없어 정적 CRM 스냅샷 기준으로 진행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5806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원본 파일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Baza customer Telecom v2.csv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프로젝트 전체의 입력 데이터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원본 크기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8,453 x 14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14개 컬럼에는 target CHURN 포함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 중복으로 인한 정보 누수 방지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CHURN=Yes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소수 클래스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CHURN=No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다수 클래스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6.5%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정확도 단독 사용 불가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12280" y="1143000"/>
            <a:ext cx="4480560" cy="274320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63A"/>
                </a:solidFill>
                <a:latin typeface="Malgun Gothic"/>
              </a:rPr>
              <a:t>모델링 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이탈자가 매우 적어 TP 몇 명 차이로 F1이 크게 변동할 수 있다.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월별 사용량 변화, 결제 이력, 계약 만료 등 시계열 데이터를 찾을 수 없었다.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따라서 높은 정확도보다 재현율과 정밀도의 균형을 함께 봐야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원본 컬럼과 사용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식별자/예측 대상/운영 민감 변수는 분리하고, 고객 행동/매출 변수 중심으로 학습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399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108960"/>
                <a:gridCol w="3108960"/>
                <a:gridCol w="3108960"/>
              </a:tblGrid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식별자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일반화 불가, 정보 누수 위험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기본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개인/조직 변화 민감, 연구용 추상화만 별도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 등급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segment별 위험 차이 반영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사업/규모 세그먼트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SOHO/VSE/SME 등 고객군 차이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청구 우편번호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트리 모델에는 신호, 선형 모델에는 잡음 가능성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활성/비활성/정지/전체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이용 상태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매출 변수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모바일/유선/총매출/ARPU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이탈 신호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이탈 여부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예측 대상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제외/수정 기준은 정보 누수 방지, 재현성, 운영 투입 가능성이다.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제외/수정/보존한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원본은 보존하고 모델용 feature만 목적에 맞게 변환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3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11979"/>
                <a:gridCol w="4411979"/>
              </a:tblGrid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중복 제거 키로만 사용 후 제거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고객이 학습/테스트에 섞이는 위험 방지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기본 모델에서 분리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담당자명은 운영 민감 변수이며 일반화 취약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KA_name 연구용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code type / premium interaction 추상화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실명 제거 후 signal 가능성만 점검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Sliver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Silver로 통합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명백한 오타 정정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포함/제외/top-50 variant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 지역 변수의 효과 검증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ARPU 결측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TotalRevenue/Total_SUBs 보정 후 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이진 분류 예측 대상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정보 누수 방지와 운영 가능성을 우선했다.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원본 CSV는 수정하지 않고, 전처리 산출물만 별도 폴더에 생성했다.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결측치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결측 자체가 이탈 신호일 수 있어 flag로 보존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41320"/>
                <a:gridCol w="2941320"/>
                <a:gridCol w="294132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결측률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사용한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Suspended_subscribers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95.84%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결측 표시 변수 + 0 대체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정지 가입자 없음/기록 부재 가능성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49.08%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결측 표시 변수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비활성 상태 자체가 위험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0.06%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Unknown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행 삭제 시 소수 클래스 손실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0.02%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 또는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지역 신호 검증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0.01%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보정 후 train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63A"/>
                </a:solidFill>
                <a:latin typeface="Malgun Gothic"/>
              </a:rPr>
              <a:t>삭제하지 않은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이탈 고객이 549명뿐이라 행 삭제는 소수 클래스를 더 줄인다.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결측이 무작위가 아니라 운영 상태를 반영할 수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대체값과 결측 표시 변수를 함께 사용해 정보 손실을 줄였다.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전처리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 CSV에서 모델 입력과 평가표까지 재현 가능한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1. Load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원본 CSV
데이터 구조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91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2. Dedup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PID 기준
17건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3. Split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80:20
stratified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4. Impute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train 기준
대체값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5. Encode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label/frequency
train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6. Scale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StandardScaler
train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7. Feature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rate/log/sqrt
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1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8. Resample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SVMSMOTE
학습 데이터만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9. Model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LR/ensemble
CatBoost/XGB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10. Tune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validation
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11. 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test 1회
최종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12. Report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CSV/PNG/PPT
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재표본화와 임계값 선택은 테스트셋을 보지 않고 수행했다.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정보 누수 방지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전처리 성능보다 중요한 것은 테스트 정보가 학습 과정에 섞이지 않는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83379"/>
                <a:gridCol w="418337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작업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fit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test 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Imputation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median으로 transform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Label/frequency encoding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unseen은 Unknown/0 frequency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ZIP top-N grouping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frequency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top-N 기준 적용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StandardScaler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transform만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적용하지 않음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Threshold 선택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내부 validation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1회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 target encoding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fold/leave-one-out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test는 train mapping만 적용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논문과 비교 가능한 재현성을 위해 random_state와 split 원칙을 고정했다.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테스트셋은 실제 운영 분포처럼 이탈 비율 6.5%를 유지했다.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Engineering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원시 매출/가입자 수를 활동성, 수익성, 상호작용 신호로 확장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24128"/>
          <a:ext cx="11018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94860"/>
                <a:gridCol w="4594860"/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왜 사용했나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원시 매출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TotalRevenue, 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이탈 비용 반영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Active, Not Active, Suspended, Total_SUBs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사용 상태 반영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비율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active_rate, inactive_rate, dormant_rate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 규모 차이 보정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매출 효율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revenue_per_subscriber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규모 대비 수익성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상호작용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revenue_engagement_interaction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매출과 활동 상태 결합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변환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log/sqrt 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왜도 완화와 선형 모델 안정화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범주형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segment, ZIP 포함/제외/top-N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고객군/지역 효과 검증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51960"/>
            <a:ext cx="544068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5720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단일 컬럼보다 파생/교차 feature가 있어야 모델이 이탈 신호를 더 잘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논문 재현과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먼저 같은 기준선을 재현한 뒤, 우리 추가 실험은 별도 기여로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논문 최고 성능은 EasyEnsembleClassifier, F1 0.129.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본 프로젝트의 EasyEnsemble 재현 F1은 0.128로 거의 동일.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LR F1 0.1681은 논문에 없던 추가 모델 조합이므로 단순 우위 주장으로 사용하지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 방식과 우리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같은 데이터셋에서 재현 가능성과 운영 질문을 동시에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86300"/>
                <a:gridCol w="46863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Makokha et al. (2026)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본 프로젝트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B2B telecom, 약 8,454 계정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원천 CSV, 로컬 기준 8,453행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 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0/Unknown/median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원칙 + missing flag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14 raw -&gt; 22 final 설명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core/extended/KA/ZIP variant 분리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 단일 설정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등 광범위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재현 + LR/Bagging/CatBoost/XGB 운영 비교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+ recall 제약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검증 F1 + recall&gt;=0.30, cost sweep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Explainability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SHAP/LIME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coefficient, permutation, local contribution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749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EasyEnsemble끼리는 재현 비교, LR/ZIP/cost 분석은 추가 기여로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후보 모델과 사용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불균형 데이터에서 기준 모델, 앙상블, 범주형 모델을 함께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78992"/>
          <a:ext cx="110642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34840"/>
                <a:gridCol w="4434840"/>
              </a:tblGrid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모델군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사용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최종 판단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 + 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설명 가능한 기준 모델, 선형 경계 확인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1위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RandomForest / GradientBoosting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비선형 관계와 상호작용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F1/recall 낮아 보조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/ RUSBoost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및 imbalance-aware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재현, 정밀도 낮음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minority 탐지 증가 기대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CV 안정성과 재현율 균형 양호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범주형 tabular 데이터 장점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재현율 중심 후보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boosting 확장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재현율 최고, 오탐 많음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Soft 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복수 모델 평균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최종 결론을 바꿀 정도의 개선은 아님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정확도 높은 모델보다 소수 클래스를 실제로 탐지하는 모델을 우선 비교했다.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하이퍼파라미터와 임계값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점수보다 운영 목적에 맞는 임계값 선택이 중요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튜닝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선택 기준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C값 조정, class weight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검증 F1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tree depth None/5, leaf 10/25 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검증 임계값 선택 후 테스트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encoded/native categorical, depth/lr 후보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recall-heavy 가능성 확인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n=10, n=50 비교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 및 recall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0.01-0.99 또는 0.05-0.70 sweep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F1 또는 비용 기준 net benefit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Recall constraint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검증 재현율 &gt;= 0.30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실무형 최소 recall 확보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5%-100% 고객 정렬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예산별 캠페인 대상 수 결정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임계값은 검증 기준으로 선택하고 테스트셋에는 한 번만 적용했다.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논문과 비교 가능한 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baseline은 재현했고, 본 프로젝트 추가 모델은 운영 목적별 대안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67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보고 기준값</a:t>
                      </a:r>
                    </a:p>
                  </a:txBody>
                  <a:tcPr marL="36576" marR="36576" marT="22860" marB="22860" anchor="ctr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EasyEnsemble F1 0.129 재현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기준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기준 최종 모델</a:t>
                      </a:r>
                    </a:p>
                  </a:txBody>
                  <a:tcPr marL="36576" marR="36576" marT="22860" marB="22860" anchor="ctr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균형 운영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팀 역량 800건 이하 균형형 운영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중심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핵심 3모델 중 매출 보호 우선 후보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534924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397763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EasyEnsemble F1 0.128은 논문 F1 0.129와 사실상 일치한다.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LR F1 0.1681은 추가 실험 결과이지만 CV에서는 평균 0.1309로 낮아진다.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한 모델이 F1, 재현율, 정밀도를 모두 이기지는 못했다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14400"/>
          <a:ext cx="117500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기준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80</a:t>
                      </a:r>
                    </a:p>
                  </a:txBody>
                  <a:tcPr marL="36576" marR="36576" marT="22860" marB="22860" anchor="ctr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균형 운영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중심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비용 최적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03320"/>
            <a:ext cx="5440680" cy="233172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03320"/>
            <a:ext cx="544068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5-Fold CV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Hold-out 결과만으로 우위를 주장하지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78992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mean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SD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0.0910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0.0885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0.1725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8620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BalancedBagging/EasyEnsemble은 fold 평균과 표준편차가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LR은 Hold-out F1은 높지만 CV 평균이 0.1309로 낮아져 데이터 분할 민감성이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따라서 논문 대비 압도적 성능 향상보다 운영 목적별 대안 제시가 더 타당합니다.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Billing ZIP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지역 변수는 모델 계열에 따라 신호와 잡음이 다르게 작동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78992"/>
          <a:ext cx="11201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56232"/>
                <a:gridCol w="1856232"/>
                <a:gridCol w="1856232"/>
                <a:gridCol w="1856232"/>
                <a:gridCol w="1856232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0.0940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0.0812</a:t>
                      </a:r>
                    </a:p>
                  </a:txBody>
                  <a:tcPr marL="36576" marR="36576" marT="22860" marB="22860" anchor="ctr"/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519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BalancedBagging은 ZIP 포함이 F1/recall을 높였다.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Logistic Regression은 ZIP 제외가 F1 0.1681로 가장 좋았다.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고카디널리티 label encoding은 선형 모델에서 잡음이 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Group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어떤 feature 그룹이 어느 모델에서 중요한지 정량적으로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83030"/>
                <a:gridCol w="1383030"/>
                <a:gridCol w="1383030"/>
                <a:gridCol w="138303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Dropped group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Baseline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Delta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-0.0872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G_engineered_rates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-0.0320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G_transform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0.1386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-0.0295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0.1392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-0.0289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G_revenue_raw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-0.0219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G_subscriber_raw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-0.0181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-0.0143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41732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LR은 categorical group 제거 시 F1이 0.1681에서 0.0806으로 급락.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BalancedBagging: interaction group 제거 시 가장 큰 성능 하락.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feature engineering 효과는 모델 구조와 결합해 해석해야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컬럼별 데이터 분리와 단일 컬럼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각 컬럼만 넣었을 때의 정보량을 확인해 최종 feature 설계를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원본 CSV는 수정하지 않고 컬럼별 feature+CHURN CSV를 생성했다.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범주형 값별 하위 데이터와 Yes/No 이탈률 summary를 만들었다.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단일 컬럼 모델은 변수별 성능 상한을 확인하는 빠른 검증용이다.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 CSV 생성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각 변수의 역할과 이탈률을 따로 확인하기 위한 보조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00500"/>
                <a:gridCol w="400050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생성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 쓰는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01_column_churn_pairs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각 원본 feature + 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단일 변수 설명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02_category_value_subsets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Bronze, SOHO, ZIP별 하위 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범주 값별 이탈률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03_profiles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전체/범주/수치 요약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EDA와 보고서 표 근거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05_single_column_model_screening.csv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단일 컬럼 모델 전체 결과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성능 상한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05_single_column_best_models.csv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best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변수별 기여 가능성 순위</a:t>
                      </a:r>
                    </a:p>
                  </a:txBody>
                  <a:tcPr marL="36576" marR="36576" marT="22860" marB="22860" anchor="ctr"/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00_data_dictionary_korean.md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한글 컬럼 사전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발표 이해도 보강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348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PID와 KA_name은 모델용/분리용 데이터에서는 제외했다.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Billing_ZIP은 고유값이 많아 값별 이탈률과 모델별 효과를 별도로 확인했다.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단일 컬럼 모델 스크리닝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컬럼 하나만 넣으면 F1은 약 0.15 수준에서 한계를 보였다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14400"/>
          <a:ext cx="115671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23060"/>
                <a:gridCol w="1623060"/>
                <a:gridCol w="1623060"/>
                <a:gridCol w="1623060"/>
                <a:gridCol w="1623060"/>
                <a:gridCol w="1623060"/>
              </a:tblGrid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Column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Type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Best 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Total_SUBs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0.1498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0.3909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0.0927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0.0781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0.0837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0.0829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0.3273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0.0714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0.0822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0.1232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0.6636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0.0674</a:t>
                      </a:r>
                    </a:p>
                  </a:txBody>
                  <a:tcPr marL="36576" marR="36576" marT="22860" marB="22860" anchor="ctr"/>
                </a:tc>
              </a:tr>
              <a:tr h="386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가입자 수와 매출 규모가 상대적으로 강하지만, 단일 변수만으로는 충분하지 않다.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 강점과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컬럼 결과를 최종 feature 설계로 연결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07080"/>
                <a:gridCol w="3307080"/>
                <a:gridCol w="3307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컬럼군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최종 반영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Total_SUBs F1 0.1498, 활동 규모 신호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규모 자체만으로는 precision 낮음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active/inactive/dormant rate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모바일/총매출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 상위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왜도와 outlier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log/sqrt, revenue ratio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고객군별 차이 존재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단독 F1 0.1346로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categorical/frequency encoding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recall은 높게 나올 수 있음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precision 낮음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segment + 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단독 recall 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고카디널리티와 과적합 위험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Suspended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결측/존재 여부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결측률이 높아 단독 모델 성능은 제한적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 표시 변수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결론: 단일 컬럼 순위는 최종 모델 순위가 아니라 feature engineering 방향을 정하는 근거다.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Paper/KA Ablation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논문형 core, ZIP top-N, KA 추상화 feature를 성능으로 점검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14400"/>
          <a:ext cx="11750036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73628"/>
                <a:gridCol w="1273628"/>
                <a:gridCol w="1273628"/>
                <a:gridCol w="1273628"/>
                <a:gridCol w="1273628"/>
                <a:gridCol w="1273628"/>
                <a:gridCol w="1273628"/>
              </a:tblGrid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0.4495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0.0955</a:t>
                      </a:r>
                    </a:p>
                  </a:txBody>
                  <a:tcPr marL="36576" marR="36576" marT="22860" marB="22860" anchor="ctr"/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extended_zip_top50_log_sqrt_inte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36576" marR="36576" marT="22860" marB="22860" anchor="ctr"/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0.1473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0.3486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0.3761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0.1061</a:t>
                      </a:r>
                    </a:p>
                  </a:txBody>
                  <a:tcPr marL="36576" marR="36576" marT="22860" marB="22860" anchor="ctr"/>
                </a:tc>
              </a:tr>
              <a:tr h="3984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0.1052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최고 F1은 paper_core_zip_log_ka_abstract + BalancedBagging 조합의 0.1561.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기존 최종 LR F1 0.1681을 상회하지는 못했다.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KA 실명 대신 추상 feature를 쓰는 방식은 발표 보조 근거로 활용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추가 모델과 하이퍼파라미터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BalancedBagging 튜닝 성능은 개선됐지만 최종 결론은 유지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14400"/>
          <a:ext cx="115671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Th.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0.1605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533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0.5963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728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EasyEnsemble_n10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373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LogisticRegression_SMOTE_C0.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0.1358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193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CatBoost_encoded_depth4_lr0.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804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0.4128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추가 실험 최고 성능은 BalancedBagging_tree_depthnone_leaf25, test F1 0.1605.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기존 최종 모델 LogisticRegression_SMOTE의 F1 0.1681은 유지.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튜닝 결과는 recall 운영 후보를 설명하는 보조 근거로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CRM Segment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전체 평균만 보면 고객군별 실패 패턴을 놓칠 수 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Rows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Positives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FN revenue risk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low_value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0.2766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0.1413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0.1871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2550.16</a:t>
                      </a:r>
                    </a:p>
                  </a:txBody>
                  <a:tcPr marL="36576" marR="36576" marT="22860" marB="22860" anchor="ctr"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mid_value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0.8529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0.0960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0.1726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534.32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high_value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1441.33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60807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337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mid/high value는 recall이 높지만 precision이 낮아 FP 관리가 중요하다.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low value는 놓치는 이탈자가 많아 FN 위험이 크다.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High-Value 전용 모델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전용 모델은 precision을 높였지만 recall을 크게 낮췄다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1018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Scope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Train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global model on high value 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6,748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high value only model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1,585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4290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Global high-recall 모델은 high-value에서도 recall 0.7857이지만 FP가 314.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High-value-only 모델은 precision/PR-AUC가 개선되지만 recall 0.3571로 낮아진다.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따라서 전용 모델 단독 교체보다 2단계 검토가 적합하다.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비용 민감 임계값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비용 구조에서는 recall 극대화가 순이익에 유리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16380"/>
                <a:gridCol w="1516380"/>
                <a:gridCol w="1516380"/>
                <a:gridCol w="1516380"/>
                <a:gridCol w="1516380"/>
                <a:gridCol w="1516380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Cost ratio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Net value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optimistic_campaign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306,330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paper_baseline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165,840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conservative_campaign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15.0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-208,800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budget_limited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7.5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-504,360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small_business_customers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-87,480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/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enterprise_customers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150.0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989,880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539496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06908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FP cost가 커지는 보수적 시나리오에서는 기대가치가 음수로 전환될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임계값은 확률값 자체가 아니라 운영 조건을 바꿔 본 결과로 해석해야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비즈니스 임팩트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선택은 팀 역량과 캠페인 비용에 따라 바뀐다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20140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Top-k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실제 캠페인은 상위 몇 %를 접촉할지로 운영하기 쉽다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84020"/>
                <a:gridCol w="1684020"/>
                <a:gridCol w="1684020"/>
                <a:gridCol w="1684020"/>
                <a:gridCol w="1684020"/>
                <a:gridCol w="1684020"/>
              </a:tblGrid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Best 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Contacts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Net benefit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26,880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LR_no_zip_f1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60,360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0.3028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70,320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0.4220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93,840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675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123,960</a:t>
                      </a:r>
                    </a:p>
                  </a:txBody>
                  <a:tcPr marL="36576" marR="36576" marT="22860" marB="22860" anchor="ctr"/>
                </a:tc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844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120,480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589788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611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예산이 작으면 LR/EasyEnsemble이 효율적이다.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예산이 커질수록 BalancedBagging/CatBoost 계열의 recall 장점이 커진다.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확률 보정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원점수는 실제 이탈 확률이 아니므로 보정이 필요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Brier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ECE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Mean score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0.2856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0.3460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0.2285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0.4668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0.1985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0.3501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0.4136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0.2859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0.4042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0.4688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557784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45262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점수 0.4는 이탈 확률 40%가 아니라 운영 순위 판단용 점수다.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Importance와 설명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SHAP과 우리 LR 해석은 순위는 달라도 결론은 수렴</a:t>
            </a:r>
          </a:p>
        </p:txBody>
      </p:sp>
      <p:pic>
        <p:nvPicPr>
          <p:cNvPr id="4" name="Picture 3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32120" cy="3063240"/>
          </a:xfrm>
          <a:prstGeom prst="rect">
            <a:avLst/>
          </a:prstGeom>
        </p:spPr>
      </p:pic>
      <p:pic>
        <p:nvPicPr>
          <p:cNvPr id="5" name="Picture 4" descr="lr_linear_contribu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532120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434840"/>
          <a:ext cx="108356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57700"/>
                <a:gridCol w="445770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해석 방법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상위 신호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SHAP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 subscriber 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tree ensemble의 비선형 활동성 효과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Permutation FI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AvgMobileRevenue_sqrt, TotalRevenue_sqrt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교란 시 F1 손실이 큰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AvgFIXRevenue_log, AvgMobileRevenue_sqrt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log-odds 방향성과 크기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Local contribution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coefficient x standardized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고객별 예측 근거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모델 합의도 기반 위험 등급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여러 모델이 동시에 경고한 고객군은 실제 이탈률이 높다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577840" cy="3657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234440"/>
          <a:ext cx="4389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051560"/>
                <a:gridCol w="1051560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Vote count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고객 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실제 이탈자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관측 이탈률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5.49%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195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6.20%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9.70%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12.43%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12280" y="34290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8개 모델 모두가 경고한 고객군은 전체 평균 이탈률 6.46%의 약 1.9배.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합의도는 영업팀 우선순위 등급으로 쓸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단, vote 0에서도 이탈자가 있어 완전한 규칙은 아니다.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Bootstrap CI와 McNemar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차이는 단순 점수 차이가 아니라 오류 패턴 차이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4048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LR의 F1 점추정치는 높지만 신뢰구간이 넓다.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BalancedBagging/CatBoost/XGBoost는 recall 중심 운영 장점이 일관된다.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McNemar test는 주요 모델의 정오분류 패턴이 유의하게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재현 자동화와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제출 이후 운영형 프로젝트로 확장 가능한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pytest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
스키마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preprocess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전처리/모델
평가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7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phase 3-8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실험/검정
재실행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599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PPT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이미지와
PPT 재생성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n8n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Docker runner
workflow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383280"/>
          <a:ext cx="102412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138159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구현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n8n workflow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Health -&gt; Full Reproduction -&gt; Summary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Runner API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X-API-KEY 헤더 인증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Drift check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monitor_drift.py의 PSI 기반 점검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재학습 검토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F1 0.14 이하 또는 PSI 0.2 초과 시 검토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버전 관리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대량 processed 산출물은 DVC/외부 스토리지 권장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성능 개선의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현재 영향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개선 방향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정적 CRM 스냅샷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시계열 데이터 부재로 직전 행동 변화 미반영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결제/VOC/계약 정보 없음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이탈 원인 직접 신호 부족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결제 실패, 문의, 계약 만료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외부 검증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generalization 확인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기간별 hold-out, 다른 시장 데이터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비용 가정 고정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운영 결론이 비용에 민감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고객별 ARPU 기반 individualized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확률 보정 미배포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score를 확률로 쓰기 어려움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calibrated probability threshold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06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시계열 데이터를 찾을 수 없어 정적 feature로 진행했으며, 향후 시계열 feature 확보가 핵심 개선 방향이다.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낮은 F1은 실패가 아니라 강한 불균형과 정적 데이터 구조의 영향으로 해석합니다.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컬럼별 실험은 가입자 수/매출/segment/ZIP이 단독으로는 약하고, 파생/교차 feature가 필요함을 보여줬다.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비용, 예산, recall 목표, segment에 따라 최적 모델과 threshold는 달라진다.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시계열 데이터 부재 조건에서 ChurnRadar의 답은 단일 최고 모델이 아니라 운영 목적별 모델 선택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시계열 데이터 부재 조건에서는 운영 목적별 모델 선택이 가장 현실적인 결론이다.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