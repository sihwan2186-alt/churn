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2F8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658368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>
                <a:solidFill>
                  <a:srgbClr val="16263A"/>
                </a:solidFill>
                <a:latin typeface="Malgun Gothic"/>
              </a:rPr>
              <a:t>ChurnRadar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444752"/>
            <a:ext cx="10607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0000"/>
                </a:solidFill>
                <a:latin typeface="Malgun Gothic"/>
              </a:rPr>
              <a:t>상세 발표본: 데이터, 전처리, 논문 재현, 실험, 운영 해석 전체 포함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5760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t>B2B 통신사 고객 이탈 예측 데이터의 컬럼별 역할과 제외/수정 사유 설명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t>논문 EasyEnsemble baseline 재현 후 모델/feature/threshold 실험으로 확장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t>최종 결론: 단일 최고 모델이 아니라 운영 목적별 모델 선택 프레임워크</a:t>
            </a:r>
          </a:p>
        </p:txBody>
      </p:sp>
      <p:pic>
        <p:nvPicPr>
          <p:cNvPr id="6" name="Picture 5" descr="01_model_metric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057400"/>
            <a:ext cx="5029200" cy="30175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상세 발표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질문을 예상하고 답하는 순서로 구성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143000"/>
          <a:ext cx="10789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480560"/>
                <a:gridCol w="4480560"/>
              </a:tblGrid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구간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슬라이드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algun Gothic"/>
                        </a:rPr>
                        <a:t>핵심 질문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데이터 이해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3-6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무슨 데이터이고 무엇을 빼거나 수정했나?</a:t>
                      </a:r>
                    </a:p>
                  </a:txBody>
                  <a:tcPr marL="36576" marR="36576" marT="22860" marB="22860" anchor="ctr"/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전처리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7-9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leakage 없이 어떤 feature를 만들었나?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논문 비교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10-14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논문과 비교 가능한 값은 무엇인가?</a:t>
                      </a:r>
                    </a:p>
                  </a:txBody>
                  <a:tcPr marL="36576" marR="36576" marT="22860" marB="22860" anchor="ctr"/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모델/튜닝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15-23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어떤 실험과 하이퍼파라미터 튜닝을 했나?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컬럼별 분석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19-21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각 컬럼만 넣으면 어떤 정보가 드러나는가?</a:t>
                      </a:r>
                    </a:p>
                  </a:txBody>
                  <a:tcPr marL="36576" marR="36576" marT="22860" marB="22860" anchor="ctr"/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운영 해석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24-31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비용, segment, top-k, calibration에서 무엇을 배웠나?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검증/결론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32-35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Malgun Gothic"/>
                        </a:rPr>
                        <a:t>통계적으로 얼마나 믿을 수 있고 한계는 무엇인가?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60120" y="4572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요약본보다 근거와 검증 과정을 더 자세히 담았다.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발표 시간이 짧으면 1-18장을 중심으로 진행하고, 19장 이후는 질의응답 자료로 활용한다.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사용 데이터와 Target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원본 CSV는 B2B 통신사 고객 단위의 정적 CRM snapshot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051560"/>
          <a:ext cx="580644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2194560"/>
                <a:gridCol w="219456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값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발표 해석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원본 파일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Baza customer Telecom v2.csv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프로젝트 전체의 입력 데이터</a:t>
                      </a:r>
                    </a:p>
                  </a:txBody>
                  <a:tcPr marL="36576" marR="36576" marT="22860" marB="22860" anchor="ctr"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원본 크기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8,453 x 14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14개 컬럼에는 target CHURN 포함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PID 중복 제거 후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8,436 rows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동일 고객 중복으로 인한 leakage 방지</a:t>
                      </a:r>
                    </a:p>
                  </a:txBody>
                  <a:tcPr marL="36576" marR="36576" marT="22860" marB="22860" anchor="ctr"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CHURN=Yes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549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minority class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CHURN=No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7,904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majority class</a:t>
                      </a:r>
                    </a:p>
                  </a:txBody>
                  <a:tcPr marL="36576" marR="36576" marT="22860" marB="22860" anchor="ctr"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이탈 비율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약 6.5%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accuracy 단독 사용 불가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6812280" y="1143000"/>
            <a:ext cx="4480560" cy="2743200"/>
          </a:xfrm>
          <a:prstGeom prst="rect">
            <a:avLst/>
          </a:prstGeom>
          <a:solidFill>
            <a:srgbClr val="EEF6FA"/>
          </a:solidFill>
          <a:ln>
            <a:solidFill>
              <a:srgbClr val="EEF6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86600" y="141732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16263A"/>
                </a:solidFill>
                <a:latin typeface="Malgun Gothic"/>
              </a:rPr>
              <a:t>왜 어려운가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86600" y="1874519"/>
            <a:ext cx="3886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Malgun Gothic"/>
              </a:defRPr>
            </a:pPr>
            <a:r>
              <a:t>이탈자가 매우 적어 TP 몇 명 차이로 F1이 흔들린다.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Malgun Gothic"/>
              </a:defRPr>
            </a:pPr>
            <a:r>
              <a:t>월별 행동 변화, 결제 실패, 계약 만료 등 temporal signal이 없다.</a:t>
            </a:r>
          </a:p>
          <a:p>
            <a:pPr>
              <a:spcAft>
                <a:spcPts val="400"/>
              </a:spcAft>
              <a:defRPr sz="1200">
                <a:solidFill>
                  <a:srgbClr val="000000"/>
                </a:solidFill>
                <a:latin typeface="Malgun Gothic"/>
              </a:defRPr>
            </a:pPr>
            <a:r>
              <a:t>따라서 높은 accuracy보다 recall/precision trade-off를 봐야 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원본 컬럼과 사용 여부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식별자/target/운영 민감 변수는 분리하고, 고객 행동/매출 변수 중심으로 학습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24128"/>
          <a:ext cx="11201399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/>
                <a:gridCol w="3108960"/>
                <a:gridCol w="3108960"/>
                <a:gridCol w="3108960"/>
              </a:tblGrid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컬럼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의미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이유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PID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고객 식별자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제외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일반화 불가, leakage 위험</a:t>
                      </a:r>
                    </a:p>
                  </a:txBody>
                  <a:tcPr marL="36576" marR="36576" marT="22860" marB="22860" anchor="ctr"/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KA_name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담당자명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기본 제외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개인/조직 변화 민감, 연구용 추상화만 별도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CRM_PID_Value_Segment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고객 가치 등급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segment별 위험 차이 반영</a:t>
                      </a:r>
                    </a:p>
                  </a:txBody>
                  <a:tcPr marL="36576" marR="36576" marT="22860" marB="22860" anchor="ctr"/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EffectiveSegment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사업/규모 세그먼트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SOHO/VSE/SME 등 고객군 차이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청구 우편번호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비교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tree에는 signal, LR에는 noise 가능성</a:t>
                      </a:r>
                    </a:p>
                  </a:txBody>
                  <a:tcPr marL="36576" marR="36576" marT="22860" marB="22860" anchor="ctr"/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가입자 수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활성/비활성/정지/전체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서비스 이용 상태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매출 변수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모바일/유선/총매출/ARPU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사용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고객 가치와 churn 신호</a:t>
                      </a:r>
                    </a:p>
                  </a:txBody>
                  <a:tcPr marL="36576" marR="36576" marT="22860" marB="22860" anchor="ctr"/>
                </a:tc>
              </a:tr>
              <a:tr h="421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CHURN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이탈 여부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target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No=0, Yes=1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algun Gothic"/>
              </a:rPr>
              <a:t>제외/수정 기준은 정보 누수 방지, 재현성, 운영 투입 가능성이다.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제외/수정/보존한 데이터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원본은 보존하고 모델용 feature만 목적에 맞게 변환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078992"/>
          <a:ext cx="10835638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11979"/>
                <a:gridCol w="4411979"/>
              </a:tblGrid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처리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이유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PID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중복 제거 키로만 사용 후 제거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동일 고객이 train/test에 섞이는 위험 방지</a:t>
                      </a:r>
                    </a:p>
                  </a:txBody>
                  <a:tcPr marL="36576" marR="36576" marT="22860" marB="22860" anchor="ctr"/>
                </a:tc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KA_name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기본 모델에서 분리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담당자명은 운영 민감 변수이며 일반화 취약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KA_name 연구용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code type / premium interaction 추상화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실명 제거 후 signal 가능성만 점검</a:t>
                      </a:r>
                    </a:p>
                  </a:txBody>
                  <a:tcPr marL="36576" marR="36576" marT="22860" marB="22860" anchor="ctr"/>
                </a:tc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Sliver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Silver로 통합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명백한 오타 정정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포함/제외/top-50 variant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고카디널리티 지역 변수의 효과 검증</a:t>
                      </a:r>
                    </a:p>
                  </a:txBody>
                  <a:tcPr marL="36576" marR="36576" marT="22860" marB="22860" anchor="ctr"/>
                </a:tc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ARPU 결측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TotalRevenue/Total_SUBs 보정 후 median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수익성 feature 보존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004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CHURN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No=0, Yes=1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binary classification target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6177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정보 누수 방지와 운영 가능성을 우선했다.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원본 CSV는 수정하지 않고, 전처리 산출물만 별도 폴더에 생성했다.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결측치 처리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결측 자체가 이탈 신호일 수 있어 flag로 보존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143000"/>
          <a:ext cx="1097280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2941320"/>
                <a:gridCol w="2941320"/>
                <a:gridCol w="2941320"/>
              </a:tblGrid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컬럼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결측률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처리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사용한 이유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Suspended_subscribers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약 95.84%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missing flag + 0 대체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정지 가입자 없음/기록 부재 가능성</a:t>
                      </a:r>
                    </a:p>
                  </a:txBody>
                  <a:tcPr marL="36576" marR="36576" marT="22860" marB="22860" anchor="ctr"/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Not_Active_subscribers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약 49.08%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missing flag + 0 대체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비활성 상태 자체가 위험 신호 가능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CRM_PID_Value_Segment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약 0.06%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Unknown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행 삭제 시 minority class 손실</a:t>
                      </a:r>
                    </a:p>
                  </a:txBody>
                  <a:tcPr marL="36576" marR="36576" marT="22860" marB="22860" anchor="ctr"/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약 0.02%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train median 또는 제외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지역 신호 검증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814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ARPU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약 0.01%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보정 후 train median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수익성 feature 보존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3931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6263A"/>
                </a:solidFill>
                <a:latin typeface="Malgun Gothic"/>
              </a:rPr>
              <a:t>삭제하지 않은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343400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이탈 고객이 549명뿐이라 행 삭제는 minority class를 더 줄인다.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결측이 무작위가 아니라 운영 상태를 반영할 수 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대체값과 결측 flag를 함께 사용해 정보 손실을 줄였다.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전처리 파이프라인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원본 CSV에서 모델 입력과 평가표까지 재현 가능한 흐름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3444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1. Load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원본 CSV
shape 확인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59151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2423160" y="123444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2. Dedup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PID 기준
17건 제거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87952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23444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3. Split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80:20
stratified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16752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60" y="123444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4. Impute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train 기준
대체값 fit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45552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09560" y="123444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5. Encode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label/frequency
train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74352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738360" y="123444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6. Scale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StandardScaler
train 기준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310896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7. Feature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rate/log/sqrt
interaction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59151" y="352044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310896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8. Resample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SVMSMOTE
train only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87952" y="352044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251960" y="310896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9. Model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LR/ensemble
CatBoost/XGB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16752" y="352044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310896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10. Tune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validation
threshold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45552" y="352044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3108960"/>
            <a:ext cx="1755648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11. Test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test 1회
최종 평가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74352" y="352044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738360" y="3108960"/>
            <a:ext cx="1755648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12. Report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CSV/PNG/PPT
산출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394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algun Gothic"/>
              </a:rPr>
              <a:t>재표본화와 임계값 선택은 테스트셋을 보지 않고 수행했다.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Leakage 방지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전처리 성능보다 중요한 것은 test 정보가 train으로 새지 않는 것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051560"/>
          <a:ext cx="1083563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4183379"/>
                <a:gridCol w="4183379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작업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fit 위치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test 처리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Imputation median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train only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train median으로 transform</a:t>
                      </a:r>
                    </a:p>
                  </a:txBody>
                  <a:tcPr marL="36576" marR="36576" marT="22860" marB="22860" anchor="ctr"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Label/frequency encoding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train only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unseen은 Unknown/0 frequency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ZIP top-N grouping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train frequency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train top-N 기준 적용</a:t>
                      </a:r>
                    </a:p>
                  </a:txBody>
                  <a:tcPr marL="36576" marR="36576" marT="22860" marB="22860" anchor="ctr"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StandardScaler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train only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transform만 적용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SVMSMOTE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train only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test에는 적용하지 않음</a:t>
                      </a:r>
                    </a:p>
                  </a:txBody>
                  <a:tcPr marL="36576" marR="36576" marT="22860" marB="22860" anchor="ctr"/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Threshold 선택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train 내부 validation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test에는 1회 적용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KA target encoding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train fold/leave-one-out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test는 train mapping만 적용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61772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논문과 비교 가능한 재현성을 위해 random_state와 split 원칙을 고정했다.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test set은 실제 운영 분포처럼 minority 비율 6.5%를 유지했다.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Feature 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원시 매출/가입자 수를 활동성, 수익성, 상호작용 신호로 확장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24128"/>
          <a:ext cx="1101852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594860"/>
                <a:gridCol w="4594860"/>
              </a:tblGrid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그룹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예시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왜 사용했나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원시 매출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AvgMobileRevenue, TotalRevenue, ARPU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고객 가치와 이탈 비용 반영</a:t>
                      </a:r>
                    </a:p>
                  </a:txBody>
                  <a:tcPr marL="36576" marR="36576" marT="22860" marB="22860" anchor="ctr"/>
                </a:tc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가입자 수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Active, Not Active, Suspended, Total_SUBs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서비스 사용 상태 반영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비율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active_rate, inactive_rate, dormant_rate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고객 규모 차이 보정</a:t>
                      </a:r>
                    </a:p>
                  </a:txBody>
                  <a:tcPr marL="36576" marR="36576" marT="22860" marB="22860" anchor="ctr"/>
                </a:tc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매출 효율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revenue_per_subscriber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규모 대비 수익성 확인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상호작용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revenue_engagement_interaction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매출과 활동 상태 결합</a:t>
                      </a:r>
                    </a:p>
                  </a:txBody>
                  <a:tcPr marL="36576" marR="36576" marT="22860" marB="22860" anchor="ctr"/>
                </a:tc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변환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log/sqrt revenue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왜도 완화와 선형 모델 안정화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7147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범주형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segment, ZIP 포함/제외/top-N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고객군/지역 효과 검증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pic>
        <p:nvPicPr>
          <p:cNvPr id="5" name="Picture 4" descr="04_feature_importance_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4251960"/>
            <a:ext cx="5440680" cy="16916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4572000"/>
            <a:ext cx="4800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0000"/>
                </a:solidFill>
                <a:latin typeface="Malgun Gothic"/>
              </a:rPr>
              <a:t>단일 컬럼보다 파생/교차 feature가 있어야 모델이 churn 신호를 더 잘 읽는다.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2F8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6263A"/>
                </a:solidFill>
                <a:latin typeface="Malgun Gothic"/>
              </a:rPr>
              <a:t>논문 재현과 비교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7373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Malgun Gothic"/>
              </a:rPr>
              <a:t>먼저 같은 기준선을 재현한 뒤, 우리 추가 실험은 별도 기여로 해석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000000"/>
                </a:solidFill>
                <a:latin typeface="Malgun Gothic"/>
              </a:defRPr>
            </a:pPr>
            <a:r>
              <a:t>논문 best는 EasyEnsembleClassifier, F1 0.129.</a:t>
            </a:r>
          </a:p>
          <a:p>
            <a:pPr>
              <a:spcAft>
                <a:spcPts val="400"/>
              </a:spcAft>
              <a:defRPr sz="1700">
                <a:solidFill>
                  <a:srgbClr val="000000"/>
                </a:solidFill>
                <a:latin typeface="Malgun Gothic"/>
              </a:defRPr>
            </a:pPr>
            <a:r>
              <a:t>우리 재현 EasyEnsemble F1은 0.128로 거의 동일.</a:t>
            </a:r>
          </a:p>
          <a:p>
            <a:pPr>
              <a:spcAft>
                <a:spcPts val="400"/>
              </a:spcAft>
              <a:defRPr sz="1700">
                <a:solidFill>
                  <a:srgbClr val="000000"/>
                </a:solidFill>
                <a:latin typeface="Malgun Gothic"/>
              </a:defRPr>
            </a:pPr>
            <a:r>
              <a:t>LR F1 0.1681은 논문에 없던 추가 모델 조합이므로 직접 우월 주장으로 쓰지 않는다.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논문 방식과 우리 방식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같은 데이터셋에서 재현 가능성과 운영 질문을 동시에 확보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24128"/>
          <a:ext cx="112014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686300"/>
                <a:gridCol w="46863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Makokha et al. (2026)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우리 프로젝트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데이터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B2B telecom, 약 8,454 계정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동일 원천 CSV, 로컬 8,453행</a:t>
                      </a:r>
                    </a:p>
                  </a:txBody>
                  <a:tcPr marL="36576" marR="36576" marT="22860" marB="22860"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결측 처리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0/Unknown/median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동일 원칙 + missing flag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Feature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14 raw -&gt; 22 final 설명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core/extended/KA/ZIP variant 분리</a:t>
                      </a:r>
                    </a:p>
                  </a:txBody>
                  <a:tcPr marL="36576" marR="36576" marT="22860" marB="22860"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포함 단일 설정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포함/제외/top-N ablation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모델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 등 광범위 비교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재현 + LR/Bagging/CatBoost/XGB 운영 비교</a:t>
                      </a:r>
                    </a:p>
                  </a:txBody>
                  <a:tcPr marL="36576" marR="36576" marT="22860" marB="22860"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F1 + recall 제약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validation F1 + recall&gt;=0.30, cost sweep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Explainability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SHAP/LIME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 coefficient, permutation, local contribution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074920"/>
            <a:ext cx="106984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algun Gothic"/>
              </a:rPr>
              <a:t>EasyEnsemble끼리는 재현 비교, LR/ZIP/cost 분석은 추가 기여로 분리한다.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후보 모델과 사용 이유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불균형 데이터에서 baseline, ensemble, categorical model을 함께 확인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078992"/>
          <a:ext cx="1106424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4434840"/>
                <a:gridCol w="4434840"/>
              </a:tblGrid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모델군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사용 이유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최종 판단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 + SVMSMOTE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설명 가능 baseline, 선형 경계 확인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hold-out F1 1위</a:t>
                      </a:r>
                    </a:p>
                  </a:txBody>
                  <a:tcPr marL="36576" marR="36576" marT="22860" marB="22860" anchor="ctr"/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RandomForest / GradientBoosting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비선형 관계와 상호작용 확인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F1/recall 낮아 보조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 / RUSBoost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논문 및 imbalance-aware 비교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논문 재현, precision 낮음</a:t>
                      </a:r>
                    </a:p>
                  </a:txBody>
                  <a:tcPr marL="36576" marR="36576" marT="22860" marB="22860" anchor="ctr"/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minority 탐지 증가 기대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CV 안정성과 recall 균형 좋음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범주형 tabular 데이터 장점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recall-heavy 후보</a:t>
                      </a:r>
                    </a:p>
                  </a:txBody>
                  <a:tcPr marL="36576" marR="36576" marT="22860" marB="22860" anchor="ctr"/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XGBoost_SMOTE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boosting 확장 후보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recall 최고, FP 큼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9433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Soft ensemble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복수 모델 평균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결론을 바꿀 정도는 아님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892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정확도 높은 모델보다 minority class를 실제로 잡는 모델을 우선 비교했다.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하이퍼파라미터와 Threshold 튜닝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모델 점수보다 운영 목적에 맞는 threshold 선택이 중요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51560"/>
          <a:ext cx="109728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80560"/>
                <a:gridCol w="4480560"/>
              </a:tblGrid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대상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튜닝 내용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선택 기준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C값 조정, class weight 비교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validation F1</a:t>
                      </a:r>
                    </a:p>
                  </a:txBody>
                  <a:tcPr marL="36576" marR="36576" marT="22860" marB="22860" anchor="ctr"/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tree depth None/5, leaf 10/25 등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validation threshold 후 test 적용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CatBoost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encoded/native categorical, depth/lr 후보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recall-heavy 가능성 확인</a:t>
                      </a:r>
                    </a:p>
                  </a:txBody>
                  <a:tcPr marL="36576" marR="36576" marT="22860" marB="22860" anchor="ctr"/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n=10, n=50 비교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논문 재현 및 recall 후보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0.01-0.99 또는 0.05-0.70 sweep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F1 또는 비용 기준 net benefit</a:t>
                      </a:r>
                    </a:p>
                  </a:txBody>
                  <a:tcPr marL="36576" marR="36576" marT="22860" marB="22860" anchor="ctr"/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Recall constraint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validation recall &gt;= 0.30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실무형 최소 recall 확보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82905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Top-k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5%-100% 고객 정렬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예산별 캠페인 대상 수 결정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7240" y="48920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algun Gothic"/>
              </a:rPr>
              <a:t>임계값은 검증 기준으로 선택하고 테스트셋에는 한 번만 적용했다.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논문과 비교 가능한 핵심 성능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논문 baseline은 재현했고, 우리 추가 모델은 운영 목적별 대안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60120"/>
          <a:ext cx="1156716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1676400"/>
                <a:gridCol w="1676400"/>
                <a:gridCol w="1676400"/>
                <a:gridCol w="1676400"/>
                <a:gridCol w="1676400"/>
                <a:gridCol w="1676400"/>
              </a:tblGrid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구분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해석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paper reference be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Paper EasyEnsemble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0.1290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0.3820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0.0770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0.0790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논문 보고 기준값</a:t>
                      </a:r>
                    </a:p>
                  </a:txBody>
                  <a:tcPr marL="36576" marR="36576" marT="22860" marB="22860" anchor="ctr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paper reproduction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0.1284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0.0721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0.0845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논문 EasyEnsemble F1 0.129 재현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main f1 model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 SMOTE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0.2661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0.1229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0.0879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Hold-out F1 기준 최종 모델</a:t>
                      </a:r>
                    </a:p>
                  </a:txBody>
                  <a:tcPr marL="36576" marR="36576" marT="22860" marB="22860" anchor="ctr"/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 operation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0.0877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0.0871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팀 역량 800건 이하 균형형 운영 후보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core recall heavy 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0.1310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0.8349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0.0711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0.0789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핵심 3모델 중 매출 보호 우선 후보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pic>
        <p:nvPicPr>
          <p:cNvPr id="5" name="Picture 4" descr="05_paper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49039"/>
            <a:ext cx="5349240" cy="2148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897880" y="3977639"/>
            <a:ext cx="53949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EasyEnsemble F1 0.128은 논문 F1 0.129와 사실상 일치한다.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LR F1 0.1681은 추가 발견이지만 CV에서는 평균 0.1309로 낮아진다.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Hold-Out 모델 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한 모델이 F1, recall, precision을 모두 이기지는 못했다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914400"/>
          <a:ext cx="11750040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148080"/>
                <a:gridCol w="1148080"/>
                <a:gridCol w="1148080"/>
                <a:gridCol w="1148080"/>
                <a:gridCol w="1148080"/>
                <a:gridCol w="1148080"/>
                <a:gridCol w="1148080"/>
                <a:gridCol w="1148080"/>
                <a:gridCol w="1148080"/>
              </a:tblGrid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목적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Variant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TP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FP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F1 기준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 SMOTE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0.2661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0.1229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207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80</a:t>
                      </a:r>
                    </a:p>
                  </a:txBody>
                  <a:tcPr marL="36576" marR="36576" marT="22860" marB="22860" anchor="ctr"/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균형 운영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0.0877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666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45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Recall 중심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0.1310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0.8349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0.0711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91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1,189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18</a:t>
                      </a:r>
                    </a:p>
                  </a:txBody>
                  <a:tcPr marL="36576" marR="36576" marT="22860" marB="22860" anchor="ctr"/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Recall 확장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0.1242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0.9266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0.0665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101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1,417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7229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비용 최적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0.1225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1,561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36576" marR="36576" marT="22860" marB="22860" anchor="ctr"/>
                </a:tc>
              </a:tr>
              <a:tr h="37229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논문 기준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external paper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Paper EasyEnsemble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0.1290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0.3820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0.0770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42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503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02_confusion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703320"/>
            <a:ext cx="5440680" cy="2331720"/>
          </a:xfrm>
          <a:prstGeom prst="rect">
            <a:avLst/>
          </a:prstGeom>
        </p:spPr>
      </p:pic>
      <p:pic>
        <p:nvPicPr>
          <p:cNvPr id="6" name="Picture 5" descr="03_precision_recall_tradeo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3703320"/>
            <a:ext cx="5440680" cy="2331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5-Fold CV 안정성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단일 hold-out 결과만으로 우위를 주장하지 않음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78992"/>
          <a:ext cx="10972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24000"/>
                <a:gridCol w="1524000"/>
                <a:gridCol w="1524000"/>
                <a:gridCol w="1524000"/>
                <a:gridCol w="1524000"/>
                <a:gridCol w="1524000"/>
              </a:tblGrid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Variant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 mean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 SD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BalancedBagging_original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0.0126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0.5248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0.0845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0.0910</a:t>
                      </a:r>
                    </a:p>
                  </a:txBody>
                  <a:tcPr marL="36576" marR="36576" marT="22860" marB="22860"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EasyEnsemble_original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0.1445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0.0117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0.5835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0.0824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0.0907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EasyEnsemble_original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0.0081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0.5835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0.0802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0.0885</a:t>
                      </a:r>
                    </a:p>
                  </a:txBody>
                  <a:tcPr marL="36576" marR="36576" marT="22860" marB="22860" anchor="ctr"/>
                </a:tc>
              </a:tr>
              <a:tr h="4114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LogisticRegression_SMOTE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0.0159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0.1725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0.1049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0.0876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3886200"/>
            <a:ext cx="1060704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BalancedBagging/EasyEnsemble은 fold 평균과 표준편차가 안정적이다.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LR은 hold-out F1은 높지만 CV 평균이 0.1309로 낮아져 split 민감성이 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논문보다 압도적 우위가 아니라 운영 목적별 대안 제시가 타당하다.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Billing ZIP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지역 변수는 모델 계열에 따라 signal과 noise가 다르게 작동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78992"/>
          <a:ext cx="112014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856232"/>
                <a:gridCol w="1856232"/>
                <a:gridCol w="1856232"/>
                <a:gridCol w="1856232"/>
                <a:gridCol w="1856232"/>
              </a:tblGrid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Variant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BalancedBagging_original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0.0877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0.0871</a:t>
                      </a:r>
                    </a:p>
                  </a:txBody>
                  <a:tcPr marL="36576" marR="36576" marT="22860" marB="22860" anchor="ctr"/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BalancedBagging_original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0.1397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0.5505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0.0798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EasyEnsemble_original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0.1284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0.0721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0.0845</a:t>
                      </a:r>
                    </a:p>
                  </a:txBody>
                  <a:tcPr marL="36576" marR="36576" marT="22860" marB="22860" anchor="ctr"/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EasyEnsemble_original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0.1268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0.5505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0.0717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0.0817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269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LogisticRegression_SMOTE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0.1283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0.2018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0.0940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0.0812</a:t>
                      </a:r>
                    </a:p>
                  </a:txBody>
                  <a:tcPr marL="36576" marR="36576" marT="22860" marB="22860" anchor="ctr"/>
                </a:tc>
              </a:tr>
              <a:tr h="35269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LogisticRegression_SMOTE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0.2661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0.1229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0.0879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4251960"/>
            <a:ext cx="104241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BalancedBagging은 ZIP 포함이 F1/recall을 높였다.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Logistic Regression은 ZIP 제외가 F1 0.1681로 가장 좋았다.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고카디널리티 label encoding은 선형 모델에서 noise가 될 수 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Feature Group Ablation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어떤 feature 그룹이 어느 모델에서 중요한지 정량화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51560"/>
          <a:ext cx="685800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25880"/>
                <a:gridCol w="1383030"/>
                <a:gridCol w="1383030"/>
                <a:gridCol w="1383030"/>
                <a:gridCol w="1383030"/>
              </a:tblGrid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Dropped group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Baseline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Delta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G_categorical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-0.0872</a:t>
                      </a:r>
                    </a:p>
                  </a:txBody>
                  <a:tcPr marL="36576" marR="36576" marT="22860" marB="22860" anchor="ctr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G_engineered_rates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0.1361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-0.0320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G_transform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0.1386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-0.0295</a:t>
                      </a:r>
                    </a:p>
                  </a:txBody>
                  <a:tcPr marL="36576" marR="36576" marT="22860" marB="22860" anchor="ctr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G_interaction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0.1392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-0.0289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G_revenue_raw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0.1462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-0.0219</a:t>
                      </a:r>
                    </a:p>
                  </a:txBody>
                  <a:tcPr marL="36576" marR="36576" marT="22860" marB="22860" anchor="ctr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G_subscriber_raw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0.1479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-0.0202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G_interaction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0.1344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-0.0181</a:t>
                      </a:r>
                    </a:p>
                  </a:txBody>
                  <a:tcPr marL="36576" marR="36576" marT="22860" marB="22860" anchor="ctr"/>
                </a:tc>
              </a:tr>
              <a:tr h="33528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G_categorical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0.1382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-0.0143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726679" y="1417320"/>
            <a:ext cx="3749039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LR: categorical group 제거 시 F1이 0.1681에서 0.0806으로 급락.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BalancedBagging: interaction group 제거 시 가장 큰 성능 하락.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feature engineering 효과는 모델 구조와 결합해 해석해야 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2F8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914400"/>
            <a:ext cx="106984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6263A"/>
                </a:solidFill>
                <a:latin typeface="Malgun Gothic"/>
              </a:rPr>
              <a:t>컬럼별 데이터 분리와 단일 컬럼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737360"/>
            <a:ext cx="9875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0000"/>
                </a:solidFill>
                <a:latin typeface="Malgun Gothic"/>
              </a:rPr>
              <a:t>각 컬럼만 넣었을 때의 정보량을 확인해 최종 feature 설계를 설명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>
                <a:solidFill>
                  <a:srgbClr val="000000"/>
                </a:solidFill>
                <a:latin typeface="Malgun Gothic"/>
              </a:defRPr>
            </a:pPr>
            <a:r>
              <a:t>원본 CSV는 수정하지 않고 컬럼별 `feature + CHURN` CSV를 생성했다.</a:t>
            </a:r>
          </a:p>
          <a:p>
            <a:pPr>
              <a:spcAft>
                <a:spcPts val="400"/>
              </a:spcAft>
              <a:defRPr sz="1700">
                <a:solidFill>
                  <a:srgbClr val="000000"/>
                </a:solidFill>
                <a:latin typeface="Malgun Gothic"/>
              </a:defRPr>
            </a:pPr>
            <a:r>
              <a:t>범주형 값별 하위 데이터와 Yes/No 이탈률 summary를 만들었다.</a:t>
            </a:r>
          </a:p>
          <a:p>
            <a:pPr>
              <a:spcAft>
                <a:spcPts val="400"/>
              </a:spcAft>
              <a:defRPr sz="1700">
                <a:solidFill>
                  <a:srgbClr val="000000"/>
                </a:solidFill>
                <a:latin typeface="Malgun Gothic"/>
              </a:defRPr>
            </a:pPr>
            <a:r>
              <a:t>단일 컬럼 모델은 성능 상한을 확인하는 빠른 검증용이다.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컬럼별 CSV 생성 결과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각 변수의 역할과 이탈률을 따로 설명하기 위한 보조 데이터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078992"/>
          <a:ext cx="108356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4000500"/>
                <a:gridCol w="4000500"/>
              </a:tblGrid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생성 위치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내용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발표에서 쓰는 이유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01_column_churn_pairs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각 원본 feature + CHURN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단일 변수 설명</a:t>
                      </a:r>
                    </a:p>
                  </a:txBody>
                  <a:tcPr marL="36576" marR="36576" marT="22860" marB="22860" anchor="ctr"/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02_category_value_subsets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Bronze, SOHO, ZIP별 하위 CSV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범주 값별 이탈률 확인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03_profiles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전체/범주/수치 요약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EDA와 보고서 표 근거</a:t>
                      </a:r>
                    </a:p>
                  </a:txBody>
                  <a:tcPr marL="36576" marR="36576" marT="22860" marB="22860" anchor="ctr"/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05_single_column_model_screening.csv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단일 컬럼 모델 전체 결과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컬럼별 성능 한계 확인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9228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05_single_column_best_models.csv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컬럼별 best model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변수별 기여 가능성 순위</a:t>
                      </a:r>
                    </a:p>
                  </a:txBody>
                  <a:tcPr marL="36576" marR="36576" marT="22860" marB="22860" anchor="ctr"/>
                </a:tc>
              </a:tr>
              <a:tr h="359232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00_data_dictionary_korean.md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한글 컬럼 사전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발표 이해도 보강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14400" y="4434840"/>
            <a:ext cx="10241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PID와 KA_name은 모델용/분리용 데이터에서는 제외했다.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Billing_ZIP은 고유값이 많아 값별 이탈률과 모델별 효과를 별도로 확인했다.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단일 컬럼 모델 스크리닝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컬럼 하나만 넣으면 F1은 약 0.15 근처에서 한계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14400"/>
          <a:ext cx="1156716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623060"/>
                <a:gridCol w="1623060"/>
                <a:gridCol w="1623060"/>
                <a:gridCol w="1623060"/>
                <a:gridCol w="1623060"/>
                <a:gridCol w="1623060"/>
              </a:tblGrid>
              <a:tr h="38654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Column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Type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Best 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8654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Total_SUBs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0.1498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0.3909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0.0927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0.0781</a:t>
                      </a:r>
                    </a:p>
                  </a:txBody>
                  <a:tcPr marL="36576" marR="36576" marT="22860" marB="22860" anchor="ctr"/>
                </a:tc>
              </a:tr>
              <a:tr h="38654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AvgMobileRevenue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0.1441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0.4545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0.0856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0.0837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8654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Active_subscribers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0.1426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0.4000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0.0868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0.0829</a:t>
                      </a:r>
                    </a:p>
                  </a:txBody>
                  <a:tcPr marL="36576" marR="36576" marT="22860" marB="22860" anchor="ctr"/>
                </a:tc>
              </a:tr>
              <a:tr h="38654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TotalRevenue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0.1416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0.4455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0.0842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0.0843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8654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EffectiveSegment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categorical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0.1346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0.3273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0.0847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0.0714</a:t>
                      </a:r>
                    </a:p>
                  </a:txBody>
                  <a:tcPr marL="36576" marR="36576" marT="22860" marB="22860" anchor="ctr"/>
                </a:tc>
              </a:tr>
              <a:tr h="38654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CRM_PID_Value_Segment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categorical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0.1276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0.5818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0.0717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0.0696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8654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categorical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0.1276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0.7000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0.0702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0.0822</a:t>
                      </a:r>
                    </a:p>
                  </a:txBody>
                  <a:tcPr marL="36576" marR="36576" marT="22860" marB="22860" anchor="ctr"/>
                </a:tc>
              </a:tr>
              <a:tr h="38654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Not_Active_subscribers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0.1259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0.2455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0.0727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8654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ARPU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0.1232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0.6636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0.0679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0.0674</a:t>
                      </a:r>
                    </a:p>
                  </a:txBody>
                  <a:tcPr marL="36576" marR="36576" marT="22860" marB="22860" anchor="ctr"/>
                </a:tc>
              </a:tr>
              <a:tr h="38655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AvgFIXRevenue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numeric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DecisionTree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0.1230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0.0656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0.0684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44068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algun Gothic"/>
              </a:rPr>
              <a:t>가입자 수와 매출 규모가 상대적으로 강하지만, 단일 변수만으로는 충분하지 않다.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컬럼별로 좋았던 점과 안 좋았던 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단일 컬럼 결과를 최종 feature 설계로 연결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960120"/>
          <a:ext cx="1147572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3307080"/>
                <a:gridCol w="3307080"/>
                <a:gridCol w="3307080"/>
              </a:tblGrid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컬럼군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좋았던 점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안 좋았던 점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최종 반영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가입자 수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Total_SUBs F1 0.1498, 활동 규모 신호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규모 자체만으로는 precision 낮음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active/inactive/dormant rate</a:t>
                      </a:r>
                    </a:p>
                  </a:txBody>
                  <a:tcPr marL="36576" marR="36576" marT="22860" marB="22860" anchor="ctr"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모바일/총매출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AvgMobileRevenue, TotalRevenue 상위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왜도와 outlier 큼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log/sqrt, revenue ratio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EffectiveSegment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고객군별 차이 존재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단독 F1 0.1346로 제한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categorical/frequency encoding</a:t>
                      </a:r>
                    </a:p>
                  </a:txBody>
                  <a:tcPr marL="36576" marR="36576" marT="22860" marB="22860" anchor="ctr"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CRM value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recall은 높게 나올 수 있음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precision 낮음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segment + interaction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Billing_ZIP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단독 recall 0.7000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고카디널리티와 과적합 위험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포함/제외/top-N ablation</a:t>
                      </a:r>
                    </a:p>
                  </a:txBody>
                  <a:tcPr marL="36576" marR="36576" marT="22860" marB="22860" anchor="ctr"/>
                </a:tc>
              </a:tr>
              <a:tr h="5486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Suspended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결측/존재 여부 신호 가능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결측률 높아 단독 모델은 약함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missing flag + 0 대체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53492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결론: 단일 컬럼 순위는 최종 모델 순위가 아니라 feature engineering 방향을 정하는 근거다.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Paper/KA Ablation Variants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논문형 core, ZIP top-N, KA 추상화 feature를 실제 성능으로 점검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914400"/>
          <a:ext cx="11750036" cy="2788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1273628"/>
                <a:gridCol w="1273628"/>
                <a:gridCol w="1273628"/>
                <a:gridCol w="1273628"/>
                <a:gridCol w="1273628"/>
                <a:gridCol w="1273628"/>
                <a:gridCol w="1273628"/>
              </a:tblGrid>
              <a:tr h="398417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Variant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Feature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paper_core_zip_log_ka_abstract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BB_original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0.4495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0.0944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0.0955</a:t>
                      </a:r>
                    </a:p>
                  </a:txBody>
                  <a:tcPr marL="36576" marR="36576" marT="22860" marB="22860" anchor="ctr"/>
                </a:tc>
              </a:tr>
              <a:tr h="39841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extended_zip_top50_log_sqrt_inte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BB_tree_depthnone_leaf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0.1545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0.3303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0.1008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0.1004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extended_zip_log_sqrt_interactio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BB_original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0.3578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0.0956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0.1053</a:t>
                      </a:r>
                    </a:p>
                  </a:txBody>
                  <a:tcPr marL="36576" marR="36576" marT="22860" marB="22860" anchor="ctr"/>
                </a:tc>
              </a:tr>
              <a:tr h="39841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extended_zip_log_sqrt_interactio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BB_tree_depthnone_leaf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0.1473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0.3486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0.0934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0.1000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98417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paper_core_zip_log_ka_abstract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BB_tree_depthnone_leaf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0.1462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0.3761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0.0907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0.1061</a:t>
                      </a:r>
                    </a:p>
                  </a:txBody>
                  <a:tcPr marL="36576" marR="36576" marT="22860" marB="22860" anchor="ctr"/>
                </a:tc>
              </a:tr>
              <a:tr h="39841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paper_core_zip_log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BB_tree_depthnone_leaf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0.1460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0.3394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0.0930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0.1052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069080"/>
            <a:ext cx="1042416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최고 F1은 `paper_core_zip_log_ka_abstract + BalancedBagging`의 0.1561.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기존 최종 LR F1 0.1681을 넘지는 못했다.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KA 실명 대신 추상 feature를 쓰는 방식은 발표 보조 근거로 활용 가능하다.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추가 모델/하이퍼파라미터 실험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BalancedBagging 튜닝은 좋아졌지만 최종 결론은 바꾸지 않음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914400"/>
          <a:ext cx="11567160" cy="315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417320"/>
                <a:gridCol w="1417320"/>
                <a:gridCol w="1417320"/>
                <a:gridCol w="1417320"/>
                <a:gridCol w="1417320"/>
                <a:gridCol w="1417320"/>
                <a:gridCol w="1417320"/>
              </a:tblGrid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Variant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Model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Th.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TP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FP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BalancedBagging_tree_depthno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0.1605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0.5138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0.0951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56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533</a:t>
                      </a:r>
                    </a:p>
                  </a:txBody>
                  <a:tcPr marL="36576" marR="36576" marT="22860" marB="22860" anchor="ctr"/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BalancedBagging_tree_depthno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0.1554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0.4954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0.0922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54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532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BalancedBagging_tree_depth5_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0.1441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0.5963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0.0820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728</a:t>
                      </a:r>
                    </a:p>
                  </a:txBody>
                  <a:tcPr marL="36576" marR="36576" marT="22860" marB="22860" anchor="ctr"/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zi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EasyEnsemble_n10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0.1431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0.3578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0.0894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39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397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BalancedBagging_tree_depth5_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0.1426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0.3394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0.0902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37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373</a:t>
                      </a:r>
                    </a:p>
                  </a:txBody>
                  <a:tcPr marL="36576" marR="36576" marT="22860" marB="22860" anchor="ctr"/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LogisticRegression_SMOTE_C0.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0.1358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0.2018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0.1023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193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 billing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CatBoost_encoded_depth4_lr0.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0.1348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0.6055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0.0759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804</a:t>
                      </a:r>
                    </a:p>
                  </a:txBody>
                  <a:tcPr marL="36576" marR="36576" marT="22860" marB="22860" anchor="ctr"/>
                </a:tc>
              </a:tr>
              <a:tr h="35052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without billing zi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BalancedBagging_tree_depth5_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0.1339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0.4128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0.0799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45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518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" y="4526280"/>
            <a:ext cx="10515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추가 실험 best: `BalancedBagging_tree_depthnone_leaf25`, test F1 0.1605.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기존 최종 모델 `LogisticRegression_SMOTE` F1 0.1681은 유지.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튜닝 결과는 recall 운영 후보를 설명하는 보조 근거로 사용한다.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CRM Segment 분석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전체 평균만 보면 고객군별 실패 패턴을 놓친다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051560"/>
          <a:ext cx="108356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485900"/>
                <a:gridCol w="1485900"/>
                <a:gridCol w="1485900"/>
                <a:gridCol w="1485900"/>
                <a:gridCol w="1485900"/>
                <a:gridCol w="1485900"/>
              </a:tblGrid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Segment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Rows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Positives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FN revenue risk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low_value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784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47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0.2766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0.1413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0.1871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2550.16</a:t>
                      </a:r>
                    </a:p>
                  </a:txBody>
                  <a:tcPr marL="36576" marR="36576" marT="22860" marB="22860" anchor="ctr"/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mid_value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500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34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0.8529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0.0960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0.1726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534.32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8862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high_value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404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28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0.7857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0.0655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0.1209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1441.33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pic>
        <p:nvPicPr>
          <p:cNvPr id="5" name="Picture 4" descr="phase6_segment_recall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926080"/>
            <a:ext cx="6080760" cy="26974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3337560"/>
            <a:ext cx="44805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mid/high value는 recall이 높지만 precision이 낮아 FP 관리가 중요하다.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low value는 놓치는 이탈자가 많아 FN 위험이 크다.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High-Value 전용 모델 실험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전용 모델은 precision을 높였지만 recall을 크게 낮췄다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143000"/>
          <a:ext cx="110185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1057275"/>
                <a:gridCol w="1057275"/>
                <a:gridCol w="1057275"/>
                <a:gridCol w="1057275"/>
                <a:gridCol w="1057275"/>
                <a:gridCol w="1057275"/>
                <a:gridCol w="1057275"/>
                <a:gridCol w="1057275"/>
              </a:tblGrid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Scope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Train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Test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PR-AUC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FP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global model on high value 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6,748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404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0.7857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0.0824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314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36576" marR="36576" marT="22860" marB="22860" anchor="ctr"/>
                </a:tc>
              </a:tr>
              <a:tr h="47244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high value only model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1,585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404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0.1325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0.3571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0.0813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0.1341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113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3429000"/>
            <a:ext cx="1033272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Global high-recall 모델은 high-value에서도 recall 0.7857이지만 FP가 314.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High-value-only 모델은 precision/PR-AUC가 개선되지만 recall 0.3571로 낮아진다.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따라서 전용 모델 단독 교체보다 two-stage review가 적합하다.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Cost-Sensitive Threshold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논문 비용 구조에서는 recall 극대화가 순이익에 유리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24128"/>
          <a:ext cx="112014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1516380"/>
                <a:gridCol w="1516380"/>
                <a:gridCol w="1516380"/>
                <a:gridCol w="1516380"/>
                <a:gridCol w="1516380"/>
                <a:gridCol w="1516380"/>
              </a:tblGrid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Scenario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Cost ratio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Threshold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Net value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optimistic_campaign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180.0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306,330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0.1225</a:t>
                      </a:r>
                    </a:p>
                  </a:txBody>
                  <a:tcPr marL="36576" marR="36576" marT="22860" marB="22860" anchor="ctr"/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paper_baseline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45.0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165,840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0.1225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conservative_campaign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15.0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-208,800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0.1225</a:t>
                      </a:r>
                    </a:p>
                  </a:txBody>
                  <a:tcPr marL="36576" marR="36576" marT="22860" marB="22860" anchor="ctr"/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budget_limited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7.5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-504,360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0.5596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0.0902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0.1554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46165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small_business_customers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10.0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-87,480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0.5596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0.0902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0.1554</a:t>
                      </a:r>
                    </a:p>
                  </a:txBody>
                  <a:tcPr marL="36576" marR="36576" marT="22860" marB="22860" anchor="ctr"/>
                </a:tc>
              </a:tr>
              <a:tr h="34617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enterprise_customers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150.0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989,880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1.0000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0.1225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phase6_cost_best_paper_bas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703320"/>
            <a:ext cx="5394960" cy="2103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126480" y="4069080"/>
            <a:ext cx="51206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FP cost가 커지는 보수적 시나리오에서는 기대가치가 음수로 전환될 수 있다.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threshold는 확률값이 아니라 운영 sweep 결과로 해석해야 한다.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비즈니스 임팩트 시나리오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모델 선택은 팀 역량과 캠페인 비용에 따라 바뀐다</a:t>
            </a:r>
          </a:p>
        </p:txBody>
      </p:sp>
      <p:pic>
        <p:nvPicPr>
          <p:cNvPr id="4" name="Picture 3" descr="business_impac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960120"/>
            <a:ext cx="11201400" cy="5166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Top-k 예산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실제 캠페인은 상위 몇 %를 접촉할지로 운영하기 쉽다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24128"/>
          <a:ext cx="112014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84020"/>
                <a:gridCol w="1684020"/>
                <a:gridCol w="1684020"/>
                <a:gridCol w="1684020"/>
                <a:gridCol w="1684020"/>
                <a:gridCol w="1684020"/>
              </a:tblGrid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Top-k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Best case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Contacts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TP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Recall@k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Precision@k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Net benefit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5%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EasyEnsemble_with_zip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84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0.1009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0.1310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26,880</a:t>
                      </a:r>
                    </a:p>
                  </a:txBody>
                  <a:tcPr marL="36576" marR="36576" marT="22860" marB="22860" anchor="ctr"/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10%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LR_no_zip_f1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169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0.2202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0.1420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60,360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20%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LR_with_zip_recall_constr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338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33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0.3028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0.0976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70,320</a:t>
                      </a:r>
                    </a:p>
                  </a:txBody>
                  <a:tcPr marL="36576" marR="36576" marT="22860" marB="22860" anchor="ctr"/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30%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EasyEnsemble_with_zip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506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0.4220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0.0909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93,840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280851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40%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BalancedBagging_with_zip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675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0.5596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0.0904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123,960</a:t>
                      </a:r>
                    </a:p>
                  </a:txBody>
                  <a:tcPr marL="36576" marR="36576" marT="22860" marB="22860" anchor="ctr"/>
                </a:tc>
              </a:tr>
              <a:tr h="280854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50%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LR_with_zip_recall_constr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844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66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0.6055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0.0782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120,480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phase6_topk_budget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00400"/>
            <a:ext cx="5897880" cy="26517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720840" y="3611880"/>
            <a:ext cx="44805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예산이 작으면 LR/EasyEnsemble이 효율적이다.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예산이 커질수록 BalancedBagging/CatBoost 계열의 recall 장점이 커진다.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Calibration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Raw score는 실제 이탈 확률이 아니므로 보정이 필요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05840"/>
          <a:ext cx="11201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01368"/>
                <a:gridCol w="1801368"/>
                <a:gridCol w="1801368"/>
                <a:gridCol w="1801368"/>
                <a:gridCol w="1801368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Case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Method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Brier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ECE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Mean score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Observed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 no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raw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0.1557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0.2856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0.3460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/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 no ZIP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platt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0.0602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0.0008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0.0653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raw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0.2285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0.4022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0.4668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/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platt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0.0602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0.0003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0.0648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raw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0.1985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0.3501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0.4136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/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platt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0.0603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0.0001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raw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0.2859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0.4042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0.4688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/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platt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0.0604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0.0000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0.0646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pic>
        <p:nvPicPr>
          <p:cNvPr id="5" name="Picture 4" descr="phase6_calibration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3977639"/>
            <a:ext cx="5577840" cy="19659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46520" y="4526280"/>
            <a:ext cx="4892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algun Gothic"/>
              </a:rPr>
              <a:t>점수 0.4는 이탈 확률 40%가 아니라 운영 순위 판단용 점수다.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Feature Importance와 해석 가능성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논문 SHAP과 우리 LR 해석은 순위는 달라도 결론은 수렴</a:t>
            </a:r>
          </a:p>
        </p:txBody>
      </p:sp>
      <p:pic>
        <p:nvPicPr>
          <p:cNvPr id="4" name="Picture 3" descr="lr_coefficient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5532120" cy="3063240"/>
          </a:xfrm>
          <a:prstGeom prst="rect">
            <a:avLst/>
          </a:prstGeom>
        </p:spPr>
      </p:pic>
      <p:pic>
        <p:nvPicPr>
          <p:cNvPr id="5" name="Picture 4" descr="lr_linear_contribution_importanc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640" y="1051560"/>
            <a:ext cx="5532120" cy="3063240"/>
          </a:xfrm>
          <a:prstGeom prst="rect">
            <a:avLst/>
          </a:prstGeom>
        </p:spPr>
      </p:pic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4434840"/>
          <a:ext cx="1083564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4457700"/>
                <a:gridCol w="4457700"/>
              </a:tblGrid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해석 방법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상위 신호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의미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논문 SHAP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active subscriber rate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tree ensemble의 비선형 활동성 효과</a:t>
                      </a:r>
                    </a:p>
                  </a:txBody>
                  <a:tcPr marL="36576" marR="36576" marT="22860" marB="22860" anchor="ctr"/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Permutation FI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AvgMobileRevenue_sqrt, TotalRevenue_sqrt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교란 시 F1 손실이 큰 feature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 coefficient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AvgFIXRevenue_log, AvgMobileRevenue_sqrt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log-odds 방향성과 크기</a:t>
                      </a:r>
                    </a:p>
                  </a:txBody>
                  <a:tcPr marL="36576" marR="36576" marT="22860" marB="22860" anchor="ctr"/>
                </a:tc>
              </a:tr>
              <a:tr h="246888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Local contribution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coefficient x standardized value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고객별 예측 근거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모델 합의도 기반 Risk Tier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여러 모델이 동시에 경고한 고객군은 실제 이탈률이 높다</a:t>
            </a:r>
          </a:p>
        </p:txBody>
      </p:sp>
      <p:pic>
        <p:nvPicPr>
          <p:cNvPr id="4" name="Picture 3" descr="phase6_model_agre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097280"/>
            <a:ext cx="5577840" cy="365760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720840" y="1234440"/>
          <a:ext cx="438912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1051560"/>
                <a:gridCol w="1051560"/>
                <a:gridCol w="1051560"/>
              </a:tblGrid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Vote count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고객 수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실제 이탈자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관측 이탈률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91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5.49%</a:t>
                      </a:r>
                    </a:p>
                  </a:txBody>
                  <a:tcPr marL="36576" marR="36576" marT="22860" marB="22860" anchor="ctr"/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195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3.08%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355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22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6.20%</a:t>
                      </a:r>
                    </a:p>
                  </a:txBody>
                  <a:tcPr marL="36576" marR="36576" marT="22860" marB="22860" anchor="ctr"/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134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13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9.70%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28956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169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21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12.43%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812280" y="3429000"/>
            <a:ext cx="4389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8개 모델 모두가 경고한 고객군은 전체 평균 이탈률 6.46%의 약 1.9배.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합의도는 영업팀 우선순위 tier로 쓸 수 있다.</a:t>
            </a:r>
          </a:p>
          <a:p>
            <a:pPr>
              <a:spcAft>
                <a:spcPts val="400"/>
              </a:spcAft>
              <a:defRPr sz="1300">
                <a:solidFill>
                  <a:srgbClr val="000000"/>
                </a:solidFill>
                <a:latin typeface="Malgun Gothic"/>
              </a:defRPr>
            </a:pPr>
            <a:r>
              <a:t>단, vote 0에서도 이탈자가 있어 완전한 rule은 아니다.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Bootstrap CI와 McNemar 검정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모델 차이는 단순 점수 차이가 아니라 오류 패턴 차이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051560"/>
          <a:ext cx="1120140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801368"/>
                <a:gridCol w="1801368"/>
                <a:gridCol w="1801368"/>
                <a:gridCol w="1801368"/>
                <a:gridCol w="1801368"/>
              </a:tblGrid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Case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 point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F1 95% CI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 point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Recall 95% CI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Precision point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LR no ZIP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0.1681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[0.115, 0.223]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0.2661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[0.182, 0.352]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0.1229</a:t>
                      </a:r>
                    </a:p>
                  </a:txBody>
                  <a:tcPr marL="36576" marR="36576" marT="22860" marB="22860" anchor="ctr"/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BalancedBagging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0.1526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[0.120, 0.186]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0.5872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[0.495, 0.681]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0.0877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CatBoost native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0.1310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[0.107, 0.156]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0.8349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[0.762, 0.900]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0.0711</a:t>
                      </a:r>
                    </a:p>
                  </a:txBody>
                  <a:tcPr marL="36576" marR="36576" marT="22860" marB="22860" anchor="ctr"/>
                </a:tc>
              </a:tr>
              <a:tr h="393192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XGBoost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0.1242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[0.102, 0.146]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0.9266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[0.874, 0.972]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0.0665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3840480"/>
            <a:ext cx="102412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LR의 F1 point estimate는 높지만 신뢰구간이 넓다.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BalancedBagging/CatBoost/XGBoost는 recall 중심 운영 장점이 일관된다.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McNemar test는 주요 모델의 정오분류 패턴이 유의하게 다름을 보여준다.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재현 자동화와 MLOps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제출 이후 운영형 프로젝트로 확장 가능한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777240" y="1234440"/>
            <a:ext cx="2029967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pytest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데이터
스키마 검사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16351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2880360" y="1234440"/>
            <a:ext cx="2029967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preprocess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전처리/모델
평가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19471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4983479" y="1234440"/>
            <a:ext cx="2029967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phase 3-8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실험/검정
재실행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22591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86599" y="1234440"/>
            <a:ext cx="2029967" cy="1143000"/>
          </a:xfrm>
          <a:prstGeom prst="rect">
            <a:avLst/>
          </a:prstGeom>
          <a:solidFill>
            <a:srgbClr val="F7FAF7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PPT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이미지와
PPT 재생성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25711" y="1645920"/>
            <a:ext cx="7315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000000"/>
                </a:solidFill>
                <a:latin typeface="Malgun Gothic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89719" y="1234440"/>
            <a:ext cx="2029967" cy="1143000"/>
          </a:xfrm>
          <a:prstGeom prst="rect">
            <a:avLst/>
          </a:prstGeom>
          <a:solidFill>
            <a:srgbClr val="EEF6FA"/>
          </a:solidFill>
          <a:ln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16263A"/>
                </a:solidFill>
                <a:latin typeface="Malgun Gothic"/>
              </a:rPr>
              <a:t>n8n</a:t>
            </a:r>
          </a:p>
          <a:p>
            <a:pPr algn="ctr"/>
            <a:r>
              <a:rPr sz="800" b="0">
                <a:solidFill>
                  <a:srgbClr val="000000"/>
                </a:solidFill>
                <a:latin typeface="Malgun Gothic"/>
              </a:rPr>
              <a:t>Docker runner
workflow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14400" y="3383280"/>
          <a:ext cx="10241279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8138159"/>
              </a:tblGrid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구성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Malgun Gothic"/>
                        </a:rPr>
                        <a:t>구현 내용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n8n workflow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Health -&gt; Full Reproduction -&gt; Summary</a:t>
                      </a:r>
                    </a:p>
                  </a:txBody>
                  <a:tcPr marL="36576" marR="36576" marT="22860" marB="22860" anchor="ctr"/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Runner API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X-API-KEY 헤더 인증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Drift check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monitor_drift.py의 PSI 기반 점검</a:t>
                      </a:r>
                    </a:p>
                  </a:txBody>
                  <a:tcPr marL="36576" marR="36576" marT="22860" marB="22860" anchor="ctr"/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재학습 기준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F1 0.14 이하 또는 PSI 0.2 초과 시 검토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l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버전 관리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Malgun Gothic"/>
                        </a:rPr>
                        <a:t>대량 processed 산출물은 DVC/외부 스토리지 권장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"/>
            <a:ext cx="11155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6263A"/>
                </a:solidFill>
                <a:latin typeface="Malgun Gothic"/>
              </a:rPr>
              <a:t>한계와 향후 개선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630936"/>
            <a:ext cx="10835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0000"/>
                </a:solidFill>
                <a:latin typeface="Malgun Gothic"/>
              </a:rPr>
              <a:t>성능 상한의 핵심은 모델보다 데이터 구조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051560"/>
          <a:ext cx="1097280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480560"/>
                <a:gridCol w="4480560"/>
              </a:tblGrid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한계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현재 영향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Malgun Gothic"/>
                        </a:rPr>
                        <a:t>개선 방향</a:t>
                      </a:r>
                    </a:p>
                  </a:txBody>
                  <a:tcPr marL="36576" marR="36576" marT="22860" marB="22860" anchor="ctr">
                    <a:solidFill>
                      <a:srgbClr val="16263A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정적 CRM snapshot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이탈 직전 행동 변화 없음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월별 사용량/매출 추세 추가</a:t>
                      </a:r>
                    </a:p>
                  </a:txBody>
                  <a:tcPr marL="36576" marR="36576" marT="22860" marB="22860" anchor="ctr"/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결제/VOC/계약 정보 없음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이탈 원인 직접 신호 부족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결제 실패, 문의, 계약 만료 feature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외부 검증 없음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generalization 확인 제한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기간별 hold-out, 다른 시장 데이터</a:t>
                      </a:r>
                    </a:p>
                  </a:txBody>
                  <a:tcPr marL="36576" marR="36576" marT="22860" marB="22860" anchor="ctr"/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비용 가정 고정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운영 결론이 비용에 민감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고객별 ARPU 기반 individualized value</a:t>
                      </a:r>
                    </a:p>
                  </a:txBody>
                  <a:tcPr marL="36576" marR="36576" marT="22860" marB="22860" anchor="ctr">
                    <a:solidFill>
                      <a:srgbClr val="F8FAFC"/>
                    </a:solidFill>
                  </a:tcPr>
                </a:tc>
              </a:tr>
              <a:tr h="40386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확률 보정 미배포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score를 확률로 쓰기 어려움</a:t>
                      </a:r>
                    </a:p>
                  </a:txBody>
                  <a:tcPr marL="36576" marR="36576" marT="22860" marB="2286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sz="850" b="0">
                          <a:solidFill>
                            <a:srgbClr val="000000"/>
                          </a:solidFill>
                          <a:latin typeface="Malgun Gothic"/>
                        </a:rPr>
                        <a:t>calibrated probability threshold</a:t>
                      </a:r>
                    </a:p>
                  </a:txBody>
                  <a:tcPr marL="36576" marR="36576" marT="22860" marB="22860" anchor="ctr"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68680" y="4206240"/>
            <a:ext cx="104241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모델을 더 추가하는 것보다 temporal feature 확보가 성능 개선의 핵심이다.</a:t>
            </a:r>
          </a:p>
          <a:p>
            <a:pPr>
              <a:spcAft>
                <a:spcPts val="400"/>
              </a:spcAft>
              <a:defRPr sz="1400">
                <a:solidFill>
                  <a:srgbClr val="000000"/>
                </a:solidFill>
                <a:latin typeface="Malgun Gothic"/>
              </a:defRPr>
            </a:pPr>
            <a:r>
              <a:t>낮은 F1은 실험 실패가 아니라 강한 불균형과 정적 데이터 한계의 결과로 설명한다.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BF2F8"/>
          </a:solidFill>
          <a:ln>
            <a:solidFill>
              <a:srgbClr val="EBF2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6263A"/>
                </a:solidFill>
                <a:latin typeface="Malgun Gothic"/>
              </a:rPr>
              <a:t>최종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t>논문 EasyEnsemble baseline은 F1 0.128로 재현했다.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t>Hold-out F1 최고는 LogisticRegression_SMOTE지만, CV 안정성은 BalancedBagging/EasyEnsemble이 강하다.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t>컬럼별 실험은 가입자 수/매출/segment/ZIP이 단독으로는 약하고, 파생/교차 feature가 필요함을 보여줬다.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t>비용, 예산, recall 목표, segment에 따라 최적 모델과 threshold는 달라진다.</a:t>
            </a:r>
          </a:p>
          <a:p>
            <a:pPr>
              <a:spcAft>
                <a:spcPts val="400"/>
              </a:spcAft>
              <a:defRPr sz="1600">
                <a:solidFill>
                  <a:srgbClr val="000000"/>
                </a:solidFill>
                <a:latin typeface="Malgun Gothic"/>
              </a:defRPr>
            </a:pPr>
            <a:r>
              <a:t>따라서 ChurnRadar의 답은 단일 최고 모델이 아니라 운영 목적별 모델 선택 프레임워크다.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8064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0000"/>
                </a:solidFill>
                <a:latin typeface="Malgun Gothic"/>
              </a:rPr>
              <a:t>시계열 데이터 부재 조건에서는 운영 목적별 모델 선택이 가장 현실적인 결론이다.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61320" y="6473952"/>
            <a:ext cx="1143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000000"/>
                </a:solidFill>
                <a:latin typeface="Malgun Gothic"/>
              </a:rPr>
              <a:t>ChurnRadar |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