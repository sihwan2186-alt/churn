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2F8"/>
          </a:solidFill>
          <a:ln>
            <a:solidFill>
              <a:srgbClr val="EC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6263A"/>
                </a:solidFill>
                <a:latin typeface="Malgun Gothic"/>
              </a:rPr>
              <a:t>ChurnRadar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91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C3440"/>
                </a:solidFill>
                <a:latin typeface="Malgun Gothic"/>
              </a:rPr>
              <a:t>B2B 통신사 고객 이탈 예측과 운영 시나리오 분석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395728"/>
            <a:ext cx="4206240" cy="50292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F1 | Recall | Precision |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2461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440"/>
                </a:solidFill>
                <a:latin typeface="Malgun Gothic"/>
              </a:defRPr>
            </a:pPr>
            <a:r>
              <a:t>이탈 비율 6.5%의 불균형 데이터</a:t>
            </a:r>
          </a:p>
          <a:p>
            <a:pPr>
              <a:spcAft>
                <a:spcPts val="400"/>
              </a:spcAft>
              <a:defRPr sz="1600">
                <a:solidFill>
                  <a:srgbClr val="2C3440"/>
                </a:solidFill>
                <a:latin typeface="Malgun Gothic"/>
              </a:defRPr>
            </a:pPr>
            <a:r>
              <a:t>논문 EasyEnsemble baseline 재현</a:t>
            </a:r>
          </a:p>
          <a:p>
            <a:pPr>
              <a:spcAft>
                <a:spcPts val="400"/>
              </a:spcAft>
              <a:defRPr sz="1600">
                <a:solidFill>
                  <a:srgbClr val="2C3440"/>
                </a:solidFill>
                <a:latin typeface="Malgun Gothic"/>
              </a:defRPr>
            </a:pPr>
            <a:r>
              <a:t>운영 목적별 모델 선택 프레임워크 제시</a:t>
            </a:r>
          </a:p>
        </p:txBody>
      </p:sp>
      <p:pic>
        <p:nvPicPr>
          <p:cNvPr id="7" name="Picture 6" descr="01_model_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74519"/>
            <a:ext cx="539496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데이터와 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정확도보다 minority class 탐지가 중요한 churn prediction 문제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34440"/>
          <a:ext cx="4297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값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원본 데이터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8,453 rows x 14 columns</a:t>
                      </a:r>
                    </a:p>
                  </a:txBody>
                  <a:tcPr marL="45720" marR="45720" marT="27432" marB="27432"/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PID 중복 제거 후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8,436 rows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원본 CHURN=Yes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549</a:t>
                      </a:r>
                    </a:p>
                  </a:txBody>
                  <a:tcPr marL="45720" marR="45720" marT="27432" marB="27432"/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원본 CHURN=No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7,904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이탈 비율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6.49%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0" y="1234440"/>
            <a:ext cx="5760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440"/>
                </a:solidFill>
                <a:latin typeface="Malgun Gothic"/>
              </a:defRPr>
            </a:pPr>
            <a:r>
              <a:t>Accuracy만 보면 대부분 고객을 비이탈로 예측해도 좋아 보인다.</a:t>
            </a:r>
          </a:p>
          <a:p>
            <a:pPr>
              <a:spcAft>
                <a:spcPts val="400"/>
              </a:spcAft>
              <a:defRPr sz="1500">
                <a:solidFill>
                  <a:srgbClr val="2C3440"/>
                </a:solidFill>
                <a:latin typeface="Malgun Gothic"/>
              </a:defRPr>
            </a:pPr>
            <a:r>
              <a:t>주요 지표는 F1, recall, precision, PR-AUC, MCC다.</a:t>
            </a:r>
          </a:p>
          <a:p>
            <a:pPr>
              <a:spcAft>
                <a:spcPts val="400"/>
              </a:spcAft>
              <a:defRPr sz="1500">
                <a:solidFill>
                  <a:srgbClr val="2C3440"/>
                </a:solidFill>
                <a:latin typeface="Malgun Gothic"/>
              </a:defRPr>
            </a:pPr>
            <a:r>
              <a:t>Test set에는 resampling을 적용하지 않아 실제 운영 분포를 유지했다.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251960"/>
            <a:ext cx="10241280" cy="594360"/>
          </a:xfrm>
          <a:prstGeom prst="roundRect">
            <a:avLst/>
          </a:prstGeom>
          <a:solidFill>
            <a:srgbClr val="2EA078"/>
          </a:solidFill>
          <a:ln>
            <a:solidFill>
              <a:srgbClr val="2E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핵심: 적은 이탈자를 놓치지 않되, FP 비용도 같이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전처리와 Leakage 방지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모델 점수보다 먼저 재현 가능하고 안전한 split 원칙 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440"/>
                </a:solidFill>
                <a:latin typeface="Malgun Gothic"/>
              </a:defRPr>
            </a:pPr>
            <a:r>
              <a:t>PID 기준 중복 제거</a:t>
            </a:r>
          </a:p>
          <a:p>
            <a:pPr>
              <a:spcAft>
                <a:spcPts val="400"/>
              </a:spcAft>
              <a:defRPr sz="1500">
                <a:solidFill>
                  <a:srgbClr val="2C3440"/>
                </a:solidFill>
                <a:latin typeface="Malgun Gothic"/>
              </a:defRPr>
            </a:pPr>
            <a:r>
              <a:t>CHURN 이진 변환 후 feature matrix에서 제거</a:t>
            </a:r>
          </a:p>
          <a:p>
            <a:pPr>
              <a:spcAft>
                <a:spcPts val="400"/>
              </a:spcAft>
              <a:defRPr sz="1500">
                <a:solidFill>
                  <a:srgbClr val="2C3440"/>
                </a:solidFill>
                <a:latin typeface="Malgun Gothic"/>
              </a:defRPr>
            </a:pPr>
            <a:r>
              <a:t>80:20 stratified train/test split</a:t>
            </a:r>
          </a:p>
          <a:p>
            <a:pPr>
              <a:spcAft>
                <a:spcPts val="400"/>
              </a:spcAft>
              <a:defRPr sz="1500">
                <a:solidFill>
                  <a:srgbClr val="2C3440"/>
                </a:solidFill>
                <a:latin typeface="Malgun Gothic"/>
              </a:defRPr>
            </a:pPr>
            <a:r>
              <a:t>Imputation, encoding, scaling은 train 기준 fit</a:t>
            </a:r>
          </a:p>
          <a:p>
            <a:pPr>
              <a:spcAft>
                <a:spcPts val="400"/>
              </a:spcAft>
              <a:defRPr sz="1500">
                <a:solidFill>
                  <a:srgbClr val="2C3440"/>
                </a:solidFill>
                <a:latin typeface="Malgun Gothic"/>
              </a:defRPr>
            </a:pPr>
            <a:r>
              <a:t>SVMSMOTE는 train partition에만 적용</a:t>
            </a:r>
          </a:p>
          <a:p>
            <a:pPr>
              <a:spcAft>
                <a:spcPts val="400"/>
              </a:spcAft>
              <a:defRPr sz="1500">
                <a:solidFill>
                  <a:srgbClr val="2C3440"/>
                </a:solidFill>
                <a:latin typeface="Malgun Gothic"/>
              </a:defRPr>
            </a:pPr>
            <a:r>
              <a:t>Threshold는 validation에서 선택 후 test에 1회 적용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188720"/>
            <a:ext cx="4892040" cy="3840480"/>
          </a:xfrm>
          <a:prstGeom prst="rect">
            <a:avLst/>
          </a:prstGeom>
          <a:solidFill>
            <a:srgbClr val="EEF6FA"/>
          </a:solidFill>
          <a:ln>
            <a:solidFill>
              <a:srgbClr val="EE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15087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263A"/>
                </a:solidFill>
                <a:latin typeface="Malgun Gothic"/>
              </a:rPr>
              <a:t>Leakage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057400"/>
            <a:ext cx="4206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440"/>
                </a:solidFill>
                <a:latin typeface="Malgun Gothic"/>
              </a:rPr>
              <a:t>Train fold에서만 학습한 전처리 artifact를 validation/test에 적용했다. 따라서 test row 정보가 train preprocessing에 섞이지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42900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16C79"/>
                </a:solidFill>
                <a:latin typeface="Malgun Gothic"/>
              </a:rPr>
              <a:t>불균형 처리는 성능 과장을 막기 위해 test set에는 적용하지 않았다.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논문 Baseline 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EasyEnsemble 기준 F1이 논문 보고값과 거의 일치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43000"/>
          <a:ext cx="1078992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  <a:gridCol w="1798320"/>
                <a:gridCol w="1798320"/>
                <a:gridCol w="179832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기준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Makokha et al.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EasyEnsemble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0.129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0.382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0.077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0.079</a:t>
                      </a:r>
                    </a:p>
                  </a:txBody>
                  <a:tcPr marL="45720" marR="45720" marT="27432" marB="27432"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우리 재현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EasyEnsemble + ZIP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0.128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0.587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0.072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0.085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05_pap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743200"/>
            <a:ext cx="466344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278892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직접 비교는 논문 best 모델인 EasyEnsemble끼리 수행한다.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LR F1 0.1681은 논문에 없는 추가 발견이므로 별도 해석한다.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이후 분석은 재현 baseline 위의 운영적 확장이다.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Hold-Out 모델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F1, recall, precision은 같은 방향으로 움직이지 않는다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201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  <a:gridCol w="1600200"/>
                <a:gridCol w="1600200"/>
                <a:gridCol w="16002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목적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TP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FP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LR SMOTE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0.2661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0.1229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29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207</a:t>
                      </a:r>
                    </a:p>
                  </a:txBody>
                  <a:tcPr marL="45720" marR="45720" marT="27432" marB="27432"/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균형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0.0877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64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666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0.1310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0.8349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0.0711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91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1,189</a:t>
                      </a:r>
                    </a:p>
                  </a:txBody>
                  <a:tcPr marL="45720" marR="45720" marT="27432" marB="27432"/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Recall 확장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0.1242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0.9266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0.0665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101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1,417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02_confusion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46120"/>
            <a:ext cx="5120640" cy="2560320"/>
          </a:xfrm>
          <a:prstGeom prst="rect">
            <a:avLst/>
          </a:prstGeom>
        </p:spPr>
      </p:pic>
      <p:pic>
        <p:nvPicPr>
          <p:cNvPr id="6" name="Picture 5" descr="03_precision_recall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246120"/>
            <a:ext cx="512064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Cross-Validation 안정성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단일 split 최고점과 fold 평균은 다르게 해석해야 한다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CV F1 mean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CV F1 SD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 + ZIP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0.1455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0.0126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0.5248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0.0845</a:t>
                      </a:r>
                    </a:p>
                  </a:txBody>
                  <a:tcPr marL="45720" marR="45720" marT="27432" marB="27432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EasyEnsemble + ZIP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0.1445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0.0117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0.5835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0.0824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EasyEnsemble no ZIP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0.1408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0.0081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0.5835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0.0801</a:t>
                      </a:r>
                    </a:p>
                  </a:txBody>
                  <a:tcPr marL="45720" marR="45720" marT="27432" marB="27432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LR no ZIP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0.1309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0.0154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0.1743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0.1053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14300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LR hold-out F1 0.1681은 좋은 단일 split 결과다.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5-fold CV에서는 BalancedBagging/EasyEnsemble 계열이 더 안정적이다.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결론은 특정 모델의 압도적 우위가 아니라 목적별 선택이다.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4206240"/>
            <a:ext cx="10058400" cy="64008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안전한 주장: 논문 baseline 재현 + 운영 목적별 대안 제시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차별화 실험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논문이 단일 설정으로 둔 요소를 분리해 확인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051560"/>
          <a:ext cx="105613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0660"/>
                <a:gridCol w="528066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실험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핵심 결과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ZIP ablation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ZIP은 tree ensemble에는 도움, LR에는 noise 가능성</a:t>
                      </a:r>
                    </a:p>
                  </a:txBody>
                  <a:tcPr marL="45720" marR="45720" marT="27432" marB="27432"/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Feature group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LR은 categorical, BalancedBagging은 interaction에 민감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Segment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high-value는 FP 문제, low-value는 FN 문제</a:t>
                      </a:r>
                    </a:p>
                  </a:txBody>
                  <a:tcPr marL="45720" marR="45720" marT="27432" marB="27432"/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Cost threshold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낮은 threshold는 순이익을 올리지만 접촉 수 급증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Phase 7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추가 후보는 결론을 바꿀 정도는 아님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pic>
        <p:nvPicPr>
          <p:cNvPr id="5" name="Picture 4" descr="04_feature_importance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566160"/>
            <a:ext cx="493776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3749039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추가 실험의 가치는 점수 상승보다 해석력에 있다.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어떤 feature가 어떤 모델에서 중요한지 정량화했다.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Feature Importance와 해석 가능성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LR은 logit space에서 additive explanation 제공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논문 SHAP 1위: active subscriber rate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우리 LR 중요도 상위: revenue transform + engagement interaction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모델 구조와 중요도 측정 방식이 달라 순위는 달라질 수 있다.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큰 결론은 동일하다: 매출 패턴과 서비스 참여도 결합이 중요하다.</a:t>
            </a:r>
          </a:p>
        </p:txBody>
      </p:sp>
      <p:pic>
        <p:nvPicPr>
          <p:cNvPr id="5" name="Picture 4" descr="lr_coefficient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234440"/>
            <a:ext cx="52120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비즈니스 임팩트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모델 성능은 캠페인 비용과 처리 역량에 따라 다르게 해석</a:t>
            </a:r>
          </a:p>
        </p:txBody>
      </p:sp>
      <p:pic>
        <p:nvPicPr>
          <p:cNvPr id="4" name="Picture 3" descr="business_impa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1097280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Top-k 캠페인 예산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운영팀에는 threshold보다 상위 k% 방식이 직관적</a:t>
            </a:r>
          </a:p>
        </p:txBody>
      </p:sp>
      <p:pic>
        <p:nvPicPr>
          <p:cNvPr id="4" name="Picture 3" descr="phase6_topk_budget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649224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417320"/>
            <a:ext cx="4023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Top 10%에서는 LR이 효율적이다.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Top 40% 이상에서는 BalancedBagging 계열이 유리해진다.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Top 100%는 수치상 이익이어도 실제 운영 전략으로는 부적절하다.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비용 시나리오별 Threshold 민감도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비용 구조가 바뀌면 최적 모델도 바뀐다</a:t>
            </a:r>
          </a:p>
        </p:txBody>
      </p:sp>
      <p:pic>
        <p:nvPicPr>
          <p:cNvPr id="4" name="Picture 3" descr="phase6_cost_best_paper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548640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23444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논문 비용 구조에서는 FN 비용이 FP 비용보다 훨씬 크다.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따라서 낮은 threshold와 recall 극대화가 유리하다.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캠페인 비용이 커지면 precision이 높은 LR 또는 높은 threshold가 유리하다.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Calibration: 점수는 확률이 아니다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Raw score를 이탈 확률로 말하면 안 된다</a:t>
            </a:r>
          </a:p>
        </p:txBody>
      </p:sp>
      <p:pic>
        <p:nvPicPr>
          <p:cNvPr id="4" name="Picture 3" descr="phase6_calibr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97280"/>
            <a:ext cx="5852160" cy="40233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95160" y="1325880"/>
          <a:ext cx="4389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Case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Raw mean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Platt mean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Observed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0.346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0.065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45720" marR="45720" marT="27432" marB="27432"/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0.467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0.065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CatBoost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0.414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0.065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45720" marR="45720" marT="27432" marB="27432"/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0.469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0.065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86600" y="342900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Platt calibration 후 평균 score가 실제 churn rate와 맞춰졌다.</a:t>
            </a:r>
          </a:p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Calibration은 probability 해석을 개선하지만 ranking 자체를 크게 바꾸지는 않는다.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Segment별 ROI와 실패 패턴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전체 평균은 고객군별 운영 리스크를 숨긴다</a:t>
            </a:r>
          </a:p>
        </p:txBody>
      </p:sp>
      <p:pic>
        <p:nvPicPr>
          <p:cNvPr id="4" name="Picture 3" descr="phase6_segment_recall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5943600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0" y="132588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low-value에서는 CatBoost 계열이 많은 이탈자를 포착했다.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mid-value에서는 BalancedBagging과 XGBoost가 강했다.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high-value는 precision이 낮아 고객 피로도 관리가 중요하다.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모델 합의도 기반 Risk Tiering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여러 모델이 동시에 경고한 고객은 더 위험하다</a:t>
            </a:r>
          </a:p>
        </p:txBody>
      </p:sp>
      <p:pic>
        <p:nvPicPr>
          <p:cNvPr id="4" name="Picture 3" descr="phase6_model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576072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5160" y="123444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8개 모델 모두가 경고한 고객군의 이탈률은 12.43%.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전체 평균 6.46%의 약 1.9배다.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합의도는 campaign priority tier로 활용 가능하다.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단, vote 0에서도 실제 이탈자가 있어 완전한 rule은 아니다.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통계 검정 보강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Hold-out point estimate의 불확실성을 같이 제시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4300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Case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F1 CI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Recall CI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LR LR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0.168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[0.115, 0.223]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0.266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[0.182, 0.352]</a:t>
                      </a:r>
                    </a:p>
                  </a:txBody>
                  <a:tcPr marL="45720" marR="45720" marT="27432" marB="27432"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0.153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[0.120, 0.186]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0.587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[0.495, 0.681]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CatBoost_native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0.131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[0.107, 0.156]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0.835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[0.762, 0.900]</a:t>
                      </a:r>
                    </a:p>
                  </a:txBody>
                  <a:tcPr marL="45720" marR="45720" marT="27432" marB="27432"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0.124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[0.102, 0.146]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0.927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[0.874, 0.972]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38862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LR F1 point는 가장 높지만 CI가 넓다.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BalancedBagging/XGBoost의 recall 장점은 bootstrap CI에서도 유지된다.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McNemar test는 주요 모델 쌍의 error pattern이 서로 다름을 보여준다.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한계와 향후 개선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C79"/>
                </a:solidFill>
                <a:latin typeface="Malgun Gothic"/>
              </a:rPr>
              <a:t>성능 상한의 핵심은 모델보다 데이터 구조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097280"/>
          <a:ext cx="106070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한계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향후 개선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정적 CRM snapshot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월별 사용량/매출 추세 추가</a:t>
                      </a:r>
                    </a:p>
                  </a:txBody>
                  <a:tcPr marL="45720" marR="45720" marT="27432" marB="27432"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시간 기반 행동 feature 부재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결제 실패, 문의, 계약 만료 정보 추가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배포용 확률 보정 미반영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calibrated probability 기반 threshold 재설계</a:t>
                      </a:r>
                    </a:p>
                  </a:txBody>
                  <a:tcPr marL="45720" marR="45720" marT="27432" marB="27432"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외부 검증 데이터 없음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기간별 hold-out 또는 다른 시장 데이터 검증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05840" y="4251960"/>
            <a:ext cx="10058400" cy="658368"/>
          </a:xfrm>
          <a:prstGeom prst="roundRect">
            <a:avLst/>
          </a:prstGeom>
          <a:solidFill>
            <a:srgbClr val="DE7D2C"/>
          </a:solidFill>
          <a:ln>
            <a:solidFill>
              <a:srgbClr val="DE7D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성능 개선의 다음 열쇠는 모델 추가가 아니라 temporal feature 확보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2F8"/>
          </a:solidFill>
          <a:ln>
            <a:solidFill>
              <a:srgbClr val="EC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6263A"/>
                </a:solidFill>
                <a:latin typeface="Malgun Gothic"/>
              </a:rPr>
              <a:t>최종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9875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C3440"/>
                </a:solidFill>
                <a:latin typeface="Malgun Gothic"/>
              </a:defRPr>
            </a:pPr>
            <a:r>
              <a:t>논문 EasyEnsemble baseline은 F1 0.128로 재현했다.</a:t>
            </a:r>
          </a:p>
          <a:p>
            <a:pPr>
              <a:spcAft>
                <a:spcPts val="400"/>
              </a:spcAft>
              <a:defRPr sz="1700">
                <a:solidFill>
                  <a:srgbClr val="2C3440"/>
                </a:solidFill>
                <a:latin typeface="Malgun Gothic"/>
              </a:defRPr>
            </a:pPr>
            <a:r>
              <a:t>Hold-out F1 최고는 LogisticRegression_SMOTE지만, CV 안정성은 BalancedBagging/EasyEnsemble이 강하다.</a:t>
            </a:r>
          </a:p>
          <a:p>
            <a:pPr>
              <a:spcAft>
                <a:spcPts val="400"/>
              </a:spcAft>
              <a:defRPr sz="1700">
                <a:solidFill>
                  <a:srgbClr val="2C3440"/>
                </a:solidFill>
                <a:latin typeface="Malgun Gothic"/>
              </a:defRPr>
            </a:pPr>
            <a:r>
              <a:t>Recall 극대화, 비용 최적화, 예산 제한에 따라 최적 운영점은 달라진다.</a:t>
            </a:r>
          </a:p>
          <a:p>
            <a:pPr>
              <a:spcAft>
                <a:spcPts val="400"/>
              </a:spcAft>
              <a:defRPr sz="1700">
                <a:solidFill>
                  <a:srgbClr val="2C3440"/>
                </a:solidFill>
                <a:latin typeface="Malgun Gothic"/>
              </a:defRPr>
            </a:pPr>
            <a:r>
              <a:t>ChurnRadar의 핵심 성과는 단일 모델 승리가 아니라 목적별 운영 프레임워크다.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